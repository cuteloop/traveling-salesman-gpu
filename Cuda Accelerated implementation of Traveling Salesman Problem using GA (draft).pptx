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handoutMasterIdLst>
    <p:handoutMasterId r:id="rId18"/>
  </p:handoutMasterIdLst>
  <p:sldIdLst>
    <p:sldId id="281" r:id="rId5"/>
    <p:sldId id="282" r:id="rId6"/>
    <p:sldId id="283" r:id="rId7"/>
    <p:sldId id="284" r:id="rId8"/>
    <p:sldId id="285" r:id="rId9"/>
    <p:sldId id="286" r:id="rId10"/>
    <p:sldId id="287" r:id="rId11"/>
    <p:sldId id="297" r:id="rId12"/>
    <p:sldId id="294" r:id="rId13"/>
    <p:sldId id="295" r:id="rId14"/>
    <p:sldId id="288" r:id="rId15"/>
    <p:sldId id="29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879" autoAdjust="0"/>
  </p:normalViewPr>
  <p:slideViewPr>
    <p:cSldViewPr snapToGrid="0">
      <p:cViewPr varScale="1">
        <p:scale>
          <a:sx n="72" d="100"/>
          <a:sy n="72" d="100"/>
        </p:scale>
        <p:origin x="855" y="33"/>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4/28/2026</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4/28/2026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588718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4/28/2026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4/28/2026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4/28/2026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4/28/2026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4/28/2026</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29000">
              <a:schemeClr val="accent5">
                <a:lumMod val="67000"/>
              </a:schemeClr>
            </a:gs>
            <a:gs pos="40000">
              <a:schemeClr val="accent5">
                <a:lumMod val="97000"/>
                <a:lumOff val="3000"/>
              </a:schemeClr>
            </a:gs>
            <a:gs pos="74000">
              <a:schemeClr val="bg2">
                <a:lumMod val="1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4/28/2026</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0" y="3253410"/>
            <a:ext cx="11642035" cy="2286000"/>
          </a:xfrm>
        </p:spPr>
        <p:txBody>
          <a:bodyPr/>
          <a:lstStyle/>
          <a:p>
            <a:r>
              <a:rPr lang="en-US" sz="3600" b="1" dirty="0"/>
              <a:t>Cuda Accelerated implementation of Traveling Salesman Problem using Genetic Algorithms (TSP-GA)</a:t>
            </a:r>
            <a:br>
              <a:rPr lang="en-US" dirty="0"/>
            </a:br>
            <a:endParaRPr lang="en-US" dirty="0"/>
          </a:p>
        </p:txBody>
      </p:sp>
      <p:pic>
        <p:nvPicPr>
          <p:cNvPr id="7" name="Picture 6">
            <a:extLst>
              <a:ext uri="{FF2B5EF4-FFF2-40B4-BE49-F238E27FC236}">
                <a16:creationId xmlns:a16="http://schemas.microsoft.com/office/drawing/2014/main" id="{32827A84-570F-87BA-9138-BE2919CE37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9449" y="481702"/>
            <a:ext cx="2556359" cy="2556359"/>
          </a:xfrm>
          <a:prstGeom prst="rect">
            <a:avLst/>
          </a:prstGeom>
        </p:spPr>
      </p:pic>
      <p:sp>
        <p:nvSpPr>
          <p:cNvPr id="9" name="Title 5">
            <a:extLst>
              <a:ext uri="{FF2B5EF4-FFF2-40B4-BE49-F238E27FC236}">
                <a16:creationId xmlns:a16="http://schemas.microsoft.com/office/drawing/2014/main" id="{28F358E4-FF06-4252-695F-741C8564DEB0}"/>
              </a:ext>
            </a:extLst>
          </p:cNvPr>
          <p:cNvSpPr txBox="1">
            <a:spLocks/>
          </p:cNvSpPr>
          <p:nvPr/>
        </p:nvSpPr>
        <p:spPr>
          <a:xfrm>
            <a:off x="662610" y="5145475"/>
            <a:ext cx="6268278" cy="1230823"/>
          </a:xfrm>
          <a:prstGeom prst="rect">
            <a:avLst/>
          </a:prstGeom>
        </p:spPr>
        <p:txBody>
          <a:bodyPr vert="horz" lIns="91440" tIns="45720" rIns="91440" bIns="45720" rtlCol="0" anchor="ctr" anchorCtr="0">
            <a:noAutofit/>
          </a:bodyPr>
          <a:lstStyle>
            <a:lvl1pPr algn="ctr" defTabSz="914400" rtl="0" eaLnBrk="1" latinLnBrk="0" hangingPunct="1">
              <a:lnSpc>
                <a:spcPct val="90000"/>
              </a:lnSpc>
              <a:spcBef>
                <a:spcPct val="0"/>
              </a:spcBef>
              <a:buNone/>
              <a:defRPr sz="4800" kern="1200" cap="all" spc="300" baseline="0">
                <a:solidFill>
                  <a:schemeClr val="bg1"/>
                </a:solidFill>
                <a:latin typeface="+mj-lt"/>
                <a:ea typeface="+mj-ea"/>
                <a:cs typeface="+mj-cs"/>
              </a:defRPr>
            </a:lvl1pPr>
          </a:lstStyle>
          <a:p>
            <a:r>
              <a:rPr lang="en-US" sz="2000" b="1" dirty="0"/>
              <a:t>Chris Rumsey</a:t>
            </a:r>
          </a:p>
          <a:p>
            <a:r>
              <a:rPr lang="en-US" sz="2000" b="1" dirty="0"/>
              <a:t>rumsey@Arizona.edu</a:t>
            </a:r>
            <a:br>
              <a:rPr lang="en-US" sz="3200" dirty="0"/>
            </a:br>
            <a:endParaRPr lang="en-US" sz="3200" dirty="0"/>
          </a:p>
        </p:txBody>
      </p:sp>
      <p:sp>
        <p:nvSpPr>
          <p:cNvPr id="10" name="Title 5">
            <a:extLst>
              <a:ext uri="{FF2B5EF4-FFF2-40B4-BE49-F238E27FC236}">
                <a16:creationId xmlns:a16="http://schemas.microsoft.com/office/drawing/2014/main" id="{FE985EF0-3F6F-8485-8150-ACA01DA088DD}"/>
              </a:ext>
            </a:extLst>
          </p:cNvPr>
          <p:cNvSpPr txBox="1">
            <a:spLocks/>
          </p:cNvSpPr>
          <p:nvPr/>
        </p:nvSpPr>
        <p:spPr>
          <a:xfrm>
            <a:off x="5373757" y="5139347"/>
            <a:ext cx="6268278" cy="1230823"/>
          </a:xfrm>
          <a:prstGeom prst="rect">
            <a:avLst/>
          </a:prstGeom>
        </p:spPr>
        <p:txBody>
          <a:bodyPr vert="horz" lIns="91440" tIns="45720" rIns="91440" bIns="45720" rtlCol="0" anchor="ctr" anchorCtr="0">
            <a:noAutofit/>
          </a:bodyPr>
          <a:lstStyle>
            <a:lvl1pPr algn="ctr" defTabSz="914400" rtl="0" eaLnBrk="1" latinLnBrk="0" hangingPunct="1">
              <a:lnSpc>
                <a:spcPct val="90000"/>
              </a:lnSpc>
              <a:spcBef>
                <a:spcPct val="0"/>
              </a:spcBef>
              <a:buNone/>
              <a:defRPr sz="4800" kern="1200" cap="all" spc="300" baseline="0">
                <a:solidFill>
                  <a:schemeClr val="bg1"/>
                </a:solidFill>
                <a:latin typeface="+mj-lt"/>
                <a:ea typeface="+mj-ea"/>
                <a:cs typeface="+mj-cs"/>
              </a:defRPr>
            </a:lvl1pPr>
          </a:lstStyle>
          <a:p>
            <a:r>
              <a:rPr lang="en-US" sz="2000" b="1" dirty="0"/>
              <a:t>Joel Maldonado</a:t>
            </a:r>
          </a:p>
          <a:p>
            <a:r>
              <a:rPr lang="en-US" sz="2000" b="1" dirty="0"/>
              <a:t>Joelmaldonado@arizona.edu</a:t>
            </a:r>
          </a:p>
          <a:p>
            <a:endParaRPr lang="en-US" sz="3200" dirty="0"/>
          </a:p>
        </p:txBody>
      </p:sp>
    </p:spTree>
    <p:extLst>
      <p:ext uri="{BB962C8B-B14F-4D97-AF65-F5344CB8AC3E}">
        <p14:creationId xmlns:p14="http://schemas.microsoft.com/office/powerpoint/2010/main" val="6392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042E2B-7D38-CB3D-C65A-A02952115E6D}"/>
              </a:ext>
            </a:extLst>
          </p:cNvPr>
          <p:cNvSpPr>
            <a:spLocks noGrp="1"/>
          </p:cNvSpPr>
          <p:nvPr>
            <p:ph type="title"/>
          </p:nvPr>
        </p:nvSpPr>
        <p:spPr>
          <a:xfrm>
            <a:off x="238539" y="400486"/>
            <a:ext cx="10591025" cy="1203028"/>
          </a:xfrm>
        </p:spPr>
        <p:txBody>
          <a:bodyPr/>
          <a:lstStyle/>
          <a:p>
            <a:r>
              <a:rPr lang="en-US" dirty="0"/>
              <a:t>ABSTRACT</a:t>
            </a:r>
          </a:p>
        </p:txBody>
      </p:sp>
      <p:sp>
        <p:nvSpPr>
          <p:cNvPr id="9" name="TextBox 8">
            <a:extLst>
              <a:ext uri="{FF2B5EF4-FFF2-40B4-BE49-F238E27FC236}">
                <a16:creationId xmlns:a16="http://schemas.microsoft.com/office/drawing/2014/main" id="{6D7C1537-857C-9375-5C26-C703E4EE9DFA}"/>
              </a:ext>
            </a:extLst>
          </p:cNvPr>
          <p:cNvSpPr txBox="1"/>
          <p:nvPr/>
        </p:nvSpPr>
        <p:spPr>
          <a:xfrm>
            <a:off x="417443" y="1855304"/>
            <a:ext cx="11178209" cy="3046988"/>
          </a:xfrm>
          <a:prstGeom prst="rect">
            <a:avLst/>
          </a:prstGeom>
          <a:noFill/>
        </p:spPr>
        <p:txBody>
          <a:bodyPr wrap="square" rtlCol="0">
            <a:spAutoFit/>
          </a:bodyPr>
          <a:lstStyle/>
          <a:p>
            <a:r>
              <a:rPr lang="en-US" sz="2400" dirty="0">
                <a:solidFill>
                  <a:schemeClr val="bg1"/>
                </a:solidFill>
              </a:rPr>
              <a:t>This project explores GPU-accelerated approaches to solving the Traveling Salesman Problem, a classic optimization challenge where the goal is to find the shortest possible route through a set of cities. Starting from a Python baseline, the project builds and compares a sequential C genetic algorithm, a naive CUDA implementation, and more advanced CUDA genetic algorithm variants.  Numerous approaches to </a:t>
            </a:r>
            <a:r>
              <a:rPr lang="en-US" sz="2400" dirty="0" err="1">
                <a:solidFill>
                  <a:schemeClr val="bg1"/>
                </a:solidFill>
              </a:rPr>
              <a:t>optimizint</a:t>
            </a:r>
            <a:r>
              <a:rPr lang="en-US" sz="2400" dirty="0">
                <a:solidFill>
                  <a:schemeClr val="bg1"/>
                </a:solidFill>
              </a:rPr>
              <a:t> the CUDA implementation, with specific focus on the tour length calculation were explored.  The main focus is understanding how GPU parallelism, memory layout, and reduced CPU-GPU communication can improve performance while preserving solution quality.</a:t>
            </a:r>
          </a:p>
        </p:txBody>
      </p:sp>
    </p:spTree>
    <p:extLst>
      <p:ext uri="{BB962C8B-B14F-4D97-AF65-F5344CB8AC3E}">
        <p14:creationId xmlns:p14="http://schemas.microsoft.com/office/powerpoint/2010/main" val="964646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C1295-924C-D6AB-F020-56CD9076462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4EA667D-6509-892C-CE2A-EEF693B3E12A}"/>
              </a:ext>
            </a:extLst>
          </p:cNvPr>
          <p:cNvSpPr>
            <a:spLocks noGrp="1"/>
          </p:cNvSpPr>
          <p:nvPr>
            <p:ph type="title"/>
          </p:nvPr>
        </p:nvSpPr>
        <p:spPr>
          <a:xfrm>
            <a:off x="238539" y="400486"/>
            <a:ext cx="11357113" cy="1203028"/>
          </a:xfrm>
        </p:spPr>
        <p:txBody>
          <a:bodyPr/>
          <a:lstStyle/>
          <a:p>
            <a:r>
              <a:rPr lang="en-US" dirty="0"/>
              <a:t>Background – Traveling salesman</a:t>
            </a:r>
          </a:p>
        </p:txBody>
      </p:sp>
      <p:sp>
        <p:nvSpPr>
          <p:cNvPr id="9" name="TextBox 8">
            <a:extLst>
              <a:ext uri="{FF2B5EF4-FFF2-40B4-BE49-F238E27FC236}">
                <a16:creationId xmlns:a16="http://schemas.microsoft.com/office/drawing/2014/main" id="{4CE9C7A5-D655-CF6A-5B33-6CD254E45756}"/>
              </a:ext>
            </a:extLst>
          </p:cNvPr>
          <p:cNvSpPr txBox="1"/>
          <p:nvPr/>
        </p:nvSpPr>
        <p:spPr>
          <a:xfrm>
            <a:off x="417443" y="1855304"/>
            <a:ext cx="11178209" cy="3693319"/>
          </a:xfrm>
          <a:prstGeom prst="rect">
            <a:avLst/>
          </a:prstGeom>
          <a:noFill/>
        </p:spPr>
        <p:txBody>
          <a:bodyPr wrap="square" rtlCol="0">
            <a:spAutoFit/>
          </a:bodyPr>
          <a:lstStyle/>
          <a:p>
            <a:r>
              <a:rPr lang="en-US" dirty="0">
                <a:solidFill>
                  <a:schemeClr val="bg1"/>
                </a:solidFill>
              </a:rPr>
              <a:t>Traveling salesman is a canonical NP hard problem in computer science, attempting to find a </a:t>
            </a:r>
            <a:r>
              <a:rPr lang="en-US" dirty="0" err="1">
                <a:solidFill>
                  <a:schemeClr val="bg1"/>
                </a:solidFill>
              </a:rPr>
              <a:t>Hamilitonian</a:t>
            </a:r>
            <a:r>
              <a:rPr lang="en-US" dirty="0">
                <a:solidFill>
                  <a:schemeClr val="bg1"/>
                </a:solidFill>
              </a:rPr>
              <a:t> circuit in an undirected digraph.  This is to say find a tour which visits each node exactly once, while minimizing the distance traveled.</a:t>
            </a:r>
          </a:p>
          <a:p>
            <a:endParaRPr lang="en-US" dirty="0">
              <a:solidFill>
                <a:schemeClr val="bg1"/>
              </a:solidFill>
            </a:endParaRPr>
          </a:p>
          <a:p>
            <a:r>
              <a:rPr lang="en-US" dirty="0">
                <a:solidFill>
                  <a:schemeClr val="bg1"/>
                </a:solidFill>
              </a:rPr>
              <a:t>While humans are intrinsically good at finding</a:t>
            </a:r>
          </a:p>
          <a:p>
            <a:r>
              <a:rPr lang="en-US" dirty="0">
                <a:solidFill>
                  <a:schemeClr val="bg1"/>
                </a:solidFill>
              </a:rPr>
              <a:t>solutions to this problem, the combinatorial</a:t>
            </a:r>
          </a:p>
          <a:p>
            <a:r>
              <a:rPr lang="en-US" dirty="0">
                <a:solidFill>
                  <a:schemeClr val="bg1"/>
                </a:solidFill>
              </a:rPr>
              <a:t>explosion of city combinations means that a</a:t>
            </a:r>
          </a:p>
          <a:p>
            <a:r>
              <a:rPr lang="en-US" dirty="0">
                <a:solidFill>
                  <a:schemeClr val="bg1"/>
                </a:solidFill>
              </a:rPr>
              <a:t>computer algorithm will struggle find good results.</a:t>
            </a:r>
          </a:p>
          <a:p>
            <a:endParaRPr lang="en-US" dirty="0">
              <a:solidFill>
                <a:schemeClr val="bg1"/>
              </a:solidFill>
            </a:endParaRPr>
          </a:p>
          <a:p>
            <a:r>
              <a:rPr lang="en-US" dirty="0">
                <a:solidFill>
                  <a:schemeClr val="bg1"/>
                </a:solidFill>
              </a:rPr>
              <a:t>However, applicable to CUDA, the problem is </a:t>
            </a:r>
          </a:p>
          <a:p>
            <a:r>
              <a:rPr lang="en-US" dirty="0" err="1">
                <a:solidFill>
                  <a:schemeClr val="bg1"/>
                </a:solidFill>
              </a:rPr>
              <a:t>Embarassingly</a:t>
            </a:r>
            <a:r>
              <a:rPr lang="en-US" dirty="0">
                <a:solidFill>
                  <a:schemeClr val="bg1"/>
                </a:solidFill>
              </a:rPr>
              <a:t> Parallelizable.  Even with this trait</a:t>
            </a:r>
            <a:br>
              <a:rPr lang="en-US" dirty="0">
                <a:solidFill>
                  <a:schemeClr val="bg1"/>
                </a:solidFill>
              </a:rPr>
            </a:br>
            <a:r>
              <a:rPr lang="en-US" dirty="0">
                <a:solidFill>
                  <a:schemeClr val="bg1"/>
                </a:solidFill>
              </a:rPr>
              <a:t>the sheet magnitude of the issue means that </a:t>
            </a:r>
          </a:p>
          <a:p>
            <a:r>
              <a:rPr lang="en-US" dirty="0">
                <a:solidFill>
                  <a:schemeClr val="bg1"/>
                </a:solidFill>
              </a:rPr>
              <a:t>some more </a:t>
            </a:r>
            <a:r>
              <a:rPr lang="en-US">
                <a:solidFill>
                  <a:schemeClr val="bg1"/>
                </a:solidFill>
              </a:rPr>
              <a:t>advanced technique is needed.</a:t>
            </a:r>
            <a:endParaRPr lang="en-US" dirty="0">
              <a:solidFill>
                <a:schemeClr val="bg1"/>
              </a:solidFill>
            </a:endParaRPr>
          </a:p>
        </p:txBody>
      </p:sp>
      <p:pic>
        <p:nvPicPr>
          <p:cNvPr id="1028" name="Picture 4">
            <a:extLst>
              <a:ext uri="{FF2B5EF4-FFF2-40B4-BE49-F238E27FC236}">
                <a16:creationId xmlns:a16="http://schemas.microsoft.com/office/drawing/2014/main" id="{AF4DA40A-5135-90BA-4CBB-34ACB9258E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4735" y="3012737"/>
            <a:ext cx="6400917" cy="3366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3968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2DDF5-AFC6-DBA5-7515-528461207C3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250AD5E-0BEF-B19E-13EE-8A01F8084496}"/>
              </a:ext>
            </a:extLst>
          </p:cNvPr>
          <p:cNvSpPr>
            <a:spLocks noGrp="1"/>
          </p:cNvSpPr>
          <p:nvPr>
            <p:ph type="title"/>
          </p:nvPr>
        </p:nvSpPr>
        <p:spPr>
          <a:xfrm>
            <a:off x="238539" y="400486"/>
            <a:ext cx="10591025" cy="1203028"/>
          </a:xfrm>
        </p:spPr>
        <p:txBody>
          <a:bodyPr/>
          <a:lstStyle/>
          <a:p>
            <a:r>
              <a:rPr lang="en-US" dirty="0"/>
              <a:t>Background-genetic algorithms</a:t>
            </a:r>
          </a:p>
        </p:txBody>
      </p:sp>
      <p:sp>
        <p:nvSpPr>
          <p:cNvPr id="9" name="TextBox 8">
            <a:extLst>
              <a:ext uri="{FF2B5EF4-FFF2-40B4-BE49-F238E27FC236}">
                <a16:creationId xmlns:a16="http://schemas.microsoft.com/office/drawing/2014/main" id="{915CFCC4-810F-FA2D-F259-1D8446AB14F4}"/>
              </a:ext>
            </a:extLst>
          </p:cNvPr>
          <p:cNvSpPr txBox="1"/>
          <p:nvPr/>
        </p:nvSpPr>
        <p:spPr>
          <a:xfrm>
            <a:off x="417443" y="1855304"/>
            <a:ext cx="11178209" cy="646331"/>
          </a:xfrm>
          <a:prstGeom prst="rect">
            <a:avLst/>
          </a:prstGeom>
          <a:noFill/>
        </p:spPr>
        <p:txBody>
          <a:bodyPr wrap="square" rtlCol="0">
            <a:spAutoFit/>
          </a:bodyPr>
          <a:lstStyle/>
          <a:p>
            <a:r>
              <a:rPr lang="en-US" dirty="0" err="1">
                <a:solidFill>
                  <a:schemeClr val="bg1"/>
                </a:solidFill>
              </a:rPr>
              <a:t>Genentic</a:t>
            </a:r>
            <a:r>
              <a:rPr lang="en-US" dirty="0">
                <a:solidFill>
                  <a:schemeClr val="bg1"/>
                </a:solidFill>
              </a:rPr>
              <a:t> algorithms imitate biology in computation by using a randomly generated ‘population’ of candidate tours, which are then modified</a:t>
            </a:r>
          </a:p>
        </p:txBody>
      </p:sp>
    </p:spTree>
    <p:extLst>
      <p:ext uri="{BB962C8B-B14F-4D97-AF65-F5344CB8AC3E}">
        <p14:creationId xmlns:p14="http://schemas.microsoft.com/office/powerpoint/2010/main" val="778637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D5F5B-6944-B9F4-034D-F3A8DD11A5E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4E76032-2200-883D-FA80-61807A4ECAC5}"/>
              </a:ext>
            </a:extLst>
          </p:cNvPr>
          <p:cNvSpPr>
            <a:spLocks noGrp="1"/>
          </p:cNvSpPr>
          <p:nvPr>
            <p:ph type="title"/>
          </p:nvPr>
        </p:nvSpPr>
        <p:spPr>
          <a:xfrm>
            <a:off x="238539" y="400486"/>
            <a:ext cx="10591025" cy="1203028"/>
          </a:xfrm>
        </p:spPr>
        <p:txBody>
          <a:bodyPr/>
          <a:lstStyle/>
          <a:p>
            <a:r>
              <a:rPr lang="en-US" dirty="0"/>
              <a:t>Design challenge – </a:t>
            </a:r>
            <a:r>
              <a:rPr lang="en-US" dirty="0" err="1"/>
              <a:t>cuda</a:t>
            </a:r>
            <a:r>
              <a:rPr lang="en-US" dirty="0"/>
              <a:t> specific</a:t>
            </a:r>
          </a:p>
        </p:txBody>
      </p:sp>
      <p:sp>
        <p:nvSpPr>
          <p:cNvPr id="9" name="TextBox 8">
            <a:extLst>
              <a:ext uri="{FF2B5EF4-FFF2-40B4-BE49-F238E27FC236}">
                <a16:creationId xmlns:a16="http://schemas.microsoft.com/office/drawing/2014/main" id="{99A1D5D2-A1DE-6A14-A9E9-D6192BDC3C15}"/>
              </a:ext>
            </a:extLst>
          </p:cNvPr>
          <p:cNvSpPr txBox="1"/>
          <p:nvPr/>
        </p:nvSpPr>
        <p:spPr>
          <a:xfrm>
            <a:off x="417443" y="1855304"/>
            <a:ext cx="11178209" cy="2814617"/>
          </a:xfrm>
          <a:prstGeom prst="rect">
            <a:avLst/>
          </a:prstGeom>
          <a:noFill/>
        </p:spPr>
        <p:txBody>
          <a:bodyPr wrap="square" rtlCol="0">
            <a:spAutoFit/>
          </a:bodyPr>
          <a:lstStyle/>
          <a:p>
            <a:pPr>
              <a:lnSpc>
                <a:spcPct val="150000"/>
              </a:lnSpc>
            </a:pPr>
            <a:r>
              <a:rPr lang="en-US" sz="2000" dirty="0">
                <a:solidFill>
                  <a:schemeClr val="bg1"/>
                </a:solidFill>
              </a:rPr>
              <a:t>While Genetic Algorithms are an easily parallelable in theory, there are many design challenges to consider:</a:t>
            </a:r>
          </a:p>
          <a:p>
            <a:pPr marL="285750" indent="-285750">
              <a:lnSpc>
                <a:spcPct val="150000"/>
              </a:lnSpc>
              <a:buFont typeface="Arial" panose="020B0604020202020204" pitchFamily="34" charset="0"/>
              <a:buChar char="•"/>
            </a:pPr>
            <a:r>
              <a:rPr lang="en-US" sz="2000" dirty="0">
                <a:solidFill>
                  <a:schemeClr val="bg1"/>
                </a:solidFill>
              </a:rPr>
              <a:t>Where and how to represent the candidate populations in memory</a:t>
            </a:r>
          </a:p>
          <a:p>
            <a:pPr marL="285750" indent="-285750">
              <a:lnSpc>
                <a:spcPct val="150000"/>
              </a:lnSpc>
              <a:buFont typeface="Arial" panose="020B0604020202020204" pitchFamily="34" charset="0"/>
              <a:buChar char="•"/>
            </a:pPr>
            <a:r>
              <a:rPr lang="en-US" sz="2000" dirty="0">
                <a:solidFill>
                  <a:schemeClr val="bg1"/>
                </a:solidFill>
              </a:rPr>
              <a:t>How to communicate between blocks to allow cross mutation</a:t>
            </a:r>
          </a:p>
          <a:p>
            <a:pPr marL="285750" indent="-285750">
              <a:lnSpc>
                <a:spcPct val="150000"/>
              </a:lnSpc>
              <a:buFont typeface="Arial" panose="020B0604020202020204" pitchFamily="34" charset="0"/>
              <a:buChar char="•"/>
            </a:pPr>
            <a:r>
              <a:rPr lang="en-US" sz="2000" dirty="0">
                <a:solidFill>
                  <a:schemeClr val="bg1"/>
                </a:solidFill>
              </a:rPr>
              <a:t>How to store the distance matrix to facilitate tour distance evaluation</a:t>
            </a:r>
          </a:p>
          <a:p>
            <a:pPr marL="285750" indent="-285750">
              <a:lnSpc>
                <a:spcPct val="150000"/>
              </a:lnSpc>
              <a:buFont typeface="Arial" panose="020B0604020202020204" pitchFamily="34" charset="0"/>
              <a:buChar char="•"/>
            </a:pPr>
            <a:r>
              <a:rPr lang="en-US" sz="2000" dirty="0">
                <a:solidFill>
                  <a:schemeClr val="bg1"/>
                </a:solidFill>
              </a:rPr>
              <a:t>Tuning the GA numbers to</a:t>
            </a:r>
          </a:p>
        </p:txBody>
      </p:sp>
    </p:spTree>
    <p:extLst>
      <p:ext uri="{BB962C8B-B14F-4D97-AF65-F5344CB8AC3E}">
        <p14:creationId xmlns:p14="http://schemas.microsoft.com/office/powerpoint/2010/main" val="2690513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4DF72-8BC7-3B18-4906-7DCE9B5AAD6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9359BBD-820F-DAFA-7086-717B92DB0217}"/>
              </a:ext>
            </a:extLst>
          </p:cNvPr>
          <p:cNvSpPr>
            <a:spLocks noGrp="1"/>
          </p:cNvSpPr>
          <p:nvPr>
            <p:ph type="title"/>
          </p:nvPr>
        </p:nvSpPr>
        <p:spPr>
          <a:xfrm>
            <a:off x="238539" y="400486"/>
            <a:ext cx="10591025" cy="1203028"/>
          </a:xfrm>
        </p:spPr>
        <p:txBody>
          <a:bodyPr/>
          <a:lstStyle/>
          <a:p>
            <a:r>
              <a:rPr lang="en-US" dirty="0"/>
              <a:t>Basic tsp solver for </a:t>
            </a:r>
            <a:r>
              <a:rPr lang="en-US" dirty="0" err="1"/>
              <a:t>cuda</a:t>
            </a:r>
            <a:endParaRPr lang="en-US" dirty="0"/>
          </a:p>
        </p:txBody>
      </p:sp>
      <p:sp>
        <p:nvSpPr>
          <p:cNvPr id="9" name="TextBox 8">
            <a:extLst>
              <a:ext uri="{FF2B5EF4-FFF2-40B4-BE49-F238E27FC236}">
                <a16:creationId xmlns:a16="http://schemas.microsoft.com/office/drawing/2014/main" id="{C6BC477E-4860-1D45-5322-B7491CF433B9}"/>
              </a:ext>
            </a:extLst>
          </p:cNvPr>
          <p:cNvSpPr txBox="1"/>
          <p:nvPr/>
        </p:nvSpPr>
        <p:spPr>
          <a:xfrm>
            <a:off x="417443" y="1855304"/>
            <a:ext cx="11178209" cy="3046988"/>
          </a:xfrm>
          <a:prstGeom prst="rect">
            <a:avLst/>
          </a:prstGeom>
          <a:noFill/>
        </p:spPr>
        <p:txBody>
          <a:bodyPr wrap="square" rtlCol="0">
            <a:spAutoFit/>
          </a:bodyPr>
          <a:lstStyle/>
          <a:p>
            <a:r>
              <a:rPr lang="en-US" sz="2400" dirty="0">
                <a:solidFill>
                  <a:schemeClr val="bg1"/>
                </a:solidFill>
              </a:rPr>
              <a:t>The most basic approach involves writing a very greedy algorithm which simply chooses the closest neighbor from the current node and creates a tour in this fashion iteratively</a:t>
            </a:r>
          </a:p>
          <a:p>
            <a:endParaRPr lang="en-US" sz="2400" dirty="0">
              <a:solidFill>
                <a:schemeClr val="bg1"/>
              </a:solidFill>
            </a:endParaRPr>
          </a:p>
          <a:p>
            <a:r>
              <a:rPr lang="en-US" sz="2400" dirty="0">
                <a:solidFill>
                  <a:schemeClr val="bg1"/>
                </a:solidFill>
              </a:rPr>
              <a:t>This tour is of course not very good, but it does generate a useful heuristic to feed an elite population member to the Genetic algorithm portion.</a:t>
            </a:r>
          </a:p>
          <a:p>
            <a:endParaRPr lang="en-US" sz="2400" dirty="0">
              <a:solidFill>
                <a:schemeClr val="bg1"/>
              </a:solidFill>
            </a:endParaRPr>
          </a:p>
          <a:p>
            <a:r>
              <a:rPr lang="en-US" sz="2400" dirty="0">
                <a:solidFill>
                  <a:schemeClr val="bg1"/>
                </a:solidFill>
              </a:rPr>
              <a:t>This tour was evaluated using the GPU kernel, and tuned and optimize, since the fitness evaluation function will be called very often.</a:t>
            </a:r>
          </a:p>
        </p:txBody>
      </p:sp>
    </p:spTree>
    <p:extLst>
      <p:ext uri="{BB962C8B-B14F-4D97-AF65-F5344CB8AC3E}">
        <p14:creationId xmlns:p14="http://schemas.microsoft.com/office/powerpoint/2010/main" val="3107276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48798-DA2B-05B1-0385-95A446011C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8136018-05D6-788A-91D2-2B11989AE68A}"/>
              </a:ext>
            </a:extLst>
          </p:cNvPr>
          <p:cNvSpPr>
            <a:spLocks noGrp="1"/>
          </p:cNvSpPr>
          <p:nvPr>
            <p:ph type="title"/>
          </p:nvPr>
        </p:nvSpPr>
        <p:spPr>
          <a:xfrm>
            <a:off x="238539" y="400486"/>
            <a:ext cx="10591025" cy="1203028"/>
          </a:xfrm>
        </p:spPr>
        <p:txBody>
          <a:bodyPr/>
          <a:lstStyle/>
          <a:p>
            <a:r>
              <a:rPr lang="en-US" dirty="0"/>
              <a:t>Basic ga for </a:t>
            </a:r>
            <a:r>
              <a:rPr lang="en-US" dirty="0" err="1"/>
              <a:t>cuda</a:t>
            </a:r>
            <a:endParaRPr lang="en-US" dirty="0"/>
          </a:p>
        </p:txBody>
      </p:sp>
      <p:sp>
        <p:nvSpPr>
          <p:cNvPr id="9" name="TextBox 8">
            <a:extLst>
              <a:ext uri="{FF2B5EF4-FFF2-40B4-BE49-F238E27FC236}">
                <a16:creationId xmlns:a16="http://schemas.microsoft.com/office/drawing/2014/main" id="{0C36C5E8-93A7-FCB2-4E27-874934D74094}"/>
              </a:ext>
            </a:extLst>
          </p:cNvPr>
          <p:cNvSpPr txBox="1"/>
          <p:nvPr/>
        </p:nvSpPr>
        <p:spPr>
          <a:xfrm>
            <a:off x="417443" y="1855304"/>
            <a:ext cx="11178209" cy="646331"/>
          </a:xfrm>
          <a:prstGeom prst="rect">
            <a:avLst/>
          </a:prstGeom>
          <a:noFill/>
        </p:spPr>
        <p:txBody>
          <a:bodyPr wrap="square" rtlCol="0">
            <a:spAutoFit/>
          </a:bodyPr>
          <a:lstStyle/>
          <a:p>
            <a:r>
              <a:rPr lang="en-US" dirty="0">
                <a:solidFill>
                  <a:schemeClr val="bg1"/>
                </a:solidFill>
              </a:rPr>
              <a:t>After implementing fitness evaluation the next step is to get the most simple form of Genetic Algorithms running in a parallel fashion, giving a basis for further optimization.</a:t>
            </a:r>
          </a:p>
        </p:txBody>
      </p:sp>
    </p:spTree>
    <p:extLst>
      <p:ext uri="{BB962C8B-B14F-4D97-AF65-F5344CB8AC3E}">
        <p14:creationId xmlns:p14="http://schemas.microsoft.com/office/powerpoint/2010/main" val="2046058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76143-72C2-81B3-9EFB-C6957D49AE8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F9D829E-DA12-348E-EE38-D1CAA9403400}"/>
              </a:ext>
            </a:extLst>
          </p:cNvPr>
          <p:cNvSpPr>
            <a:spLocks noGrp="1"/>
          </p:cNvSpPr>
          <p:nvPr>
            <p:ph type="title"/>
          </p:nvPr>
        </p:nvSpPr>
        <p:spPr>
          <a:xfrm>
            <a:off x="238539" y="400486"/>
            <a:ext cx="10591025" cy="1203028"/>
          </a:xfrm>
        </p:spPr>
        <p:txBody>
          <a:bodyPr/>
          <a:lstStyle/>
          <a:p>
            <a:r>
              <a:rPr lang="en-US" dirty="0"/>
              <a:t>Optimization idea 1 - </a:t>
            </a:r>
            <a:r>
              <a:rPr lang="en-US" dirty="0" err="1"/>
              <a:t>coalesing</a:t>
            </a:r>
            <a:endParaRPr lang="en-US" dirty="0"/>
          </a:p>
        </p:txBody>
      </p:sp>
      <p:sp>
        <p:nvSpPr>
          <p:cNvPr id="9" name="TextBox 8">
            <a:extLst>
              <a:ext uri="{FF2B5EF4-FFF2-40B4-BE49-F238E27FC236}">
                <a16:creationId xmlns:a16="http://schemas.microsoft.com/office/drawing/2014/main" id="{33420B2B-76D9-AE0A-7BF0-DCD6BD396855}"/>
              </a:ext>
            </a:extLst>
          </p:cNvPr>
          <p:cNvSpPr txBox="1"/>
          <p:nvPr/>
        </p:nvSpPr>
        <p:spPr>
          <a:xfrm>
            <a:off x="417443" y="1855304"/>
            <a:ext cx="11178209" cy="3139321"/>
          </a:xfrm>
          <a:prstGeom prst="rect">
            <a:avLst/>
          </a:prstGeom>
          <a:noFill/>
        </p:spPr>
        <p:txBody>
          <a:bodyPr wrap="square" rtlCol="0">
            <a:spAutoFit/>
          </a:bodyPr>
          <a:lstStyle/>
          <a:p>
            <a:r>
              <a:rPr lang="en-US" dirty="0">
                <a:solidFill>
                  <a:schemeClr val="bg1"/>
                </a:solidFill>
              </a:rPr>
              <a:t>Memory coalescing was optimized by reorganizing tour data so that neighboring CUDA threads access neighboring memory addresses at the same tour step. Instead of storing each tour contiguously and causing </a:t>
            </a:r>
            <a:r>
              <a:rPr lang="en-US" dirty="0" err="1">
                <a:solidFill>
                  <a:schemeClr val="bg1"/>
                </a:solidFill>
              </a:rPr>
              <a:t>strided</a:t>
            </a:r>
            <a:r>
              <a:rPr lang="en-US" dirty="0">
                <a:solidFill>
                  <a:schemeClr val="bg1"/>
                </a:solidFill>
              </a:rPr>
              <a:t> reads across a warp, the population can be transposed so city positions are grouped together across tours. This allows a warp to fetch consecutive city indices in fewer memory transactions, reducing global memory bandwidth waste and improving fitness-evaluation throughput.</a:t>
            </a:r>
          </a:p>
          <a:p>
            <a:endParaRPr lang="en-US" dirty="0">
              <a:solidFill>
                <a:schemeClr val="bg1"/>
              </a:solidFill>
            </a:endParaRPr>
          </a:p>
          <a:p>
            <a:r>
              <a:rPr lang="en-US" dirty="0">
                <a:solidFill>
                  <a:schemeClr val="bg1"/>
                </a:solidFill>
              </a:rPr>
              <a:t>Results!</a:t>
            </a:r>
          </a:p>
          <a:p>
            <a:endParaRPr lang="en-US" dirty="0">
              <a:solidFill>
                <a:schemeClr val="bg1"/>
              </a:solidFill>
            </a:endParaRPr>
          </a:p>
          <a:p>
            <a:r>
              <a:rPr lang="en-US" dirty="0">
                <a:solidFill>
                  <a:schemeClr val="bg1"/>
                </a:solidFill>
              </a:rPr>
              <a:t>Graphs!</a:t>
            </a:r>
          </a:p>
          <a:p>
            <a:endParaRPr lang="en-US" dirty="0">
              <a:solidFill>
                <a:schemeClr val="bg1"/>
              </a:solidFill>
            </a:endParaRPr>
          </a:p>
          <a:p>
            <a:r>
              <a:rPr lang="en-US" dirty="0">
                <a:solidFill>
                  <a:schemeClr val="bg1"/>
                </a:solidFill>
              </a:rPr>
              <a:t>Tables!</a:t>
            </a:r>
          </a:p>
        </p:txBody>
      </p:sp>
    </p:spTree>
    <p:extLst>
      <p:ext uri="{BB962C8B-B14F-4D97-AF65-F5344CB8AC3E}">
        <p14:creationId xmlns:p14="http://schemas.microsoft.com/office/powerpoint/2010/main" val="1739544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541C5-EE78-3E33-C8E8-FA0E72019FA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95B012E-E026-55C0-9686-B7357AA1AC80}"/>
              </a:ext>
            </a:extLst>
          </p:cNvPr>
          <p:cNvSpPr>
            <a:spLocks noGrp="1"/>
          </p:cNvSpPr>
          <p:nvPr>
            <p:ph type="title"/>
          </p:nvPr>
        </p:nvSpPr>
        <p:spPr>
          <a:xfrm>
            <a:off x="238539" y="400486"/>
            <a:ext cx="10591025" cy="1203028"/>
          </a:xfrm>
        </p:spPr>
        <p:txBody>
          <a:bodyPr/>
          <a:lstStyle/>
          <a:p>
            <a:r>
              <a:rPr lang="en-US" dirty="0"/>
              <a:t>Optimization idea 2 – opt 2</a:t>
            </a:r>
          </a:p>
        </p:txBody>
      </p:sp>
      <p:sp>
        <p:nvSpPr>
          <p:cNvPr id="9" name="TextBox 8">
            <a:extLst>
              <a:ext uri="{FF2B5EF4-FFF2-40B4-BE49-F238E27FC236}">
                <a16:creationId xmlns:a16="http://schemas.microsoft.com/office/drawing/2014/main" id="{5321FE30-8222-3B64-915C-E1E8250C16EA}"/>
              </a:ext>
            </a:extLst>
          </p:cNvPr>
          <p:cNvSpPr txBox="1"/>
          <p:nvPr/>
        </p:nvSpPr>
        <p:spPr>
          <a:xfrm>
            <a:off x="417443" y="1855304"/>
            <a:ext cx="11178209" cy="3139321"/>
          </a:xfrm>
          <a:prstGeom prst="rect">
            <a:avLst/>
          </a:prstGeom>
          <a:noFill/>
        </p:spPr>
        <p:txBody>
          <a:bodyPr wrap="square" rtlCol="0">
            <a:spAutoFit/>
          </a:bodyPr>
          <a:lstStyle/>
          <a:p>
            <a:r>
              <a:rPr lang="en-US" dirty="0">
                <a:solidFill>
                  <a:schemeClr val="bg1"/>
                </a:solidFill>
              </a:rPr>
              <a:t>2-opt can be used as a local improvement step to refine tours produced by the genetic algorithm. After crossover and mutation create a candidate route, 2-opt checks whether reversing a segment of the tour would remove crossing edges and shorten the total distance. This helps the GA converge faster by improving solution quality within each generation, though it must be applied selectively in CUDA because exhaustive 2-opt searches can add significant computation and memory-access overhead.</a:t>
            </a:r>
          </a:p>
          <a:p>
            <a:endParaRPr lang="en-US" dirty="0">
              <a:solidFill>
                <a:schemeClr val="bg1"/>
              </a:solidFill>
            </a:endParaRPr>
          </a:p>
          <a:p>
            <a:r>
              <a:rPr lang="en-US" dirty="0">
                <a:solidFill>
                  <a:schemeClr val="bg1"/>
                </a:solidFill>
              </a:rPr>
              <a:t>Results!</a:t>
            </a:r>
          </a:p>
          <a:p>
            <a:endParaRPr lang="en-US" dirty="0">
              <a:solidFill>
                <a:schemeClr val="bg1"/>
              </a:solidFill>
            </a:endParaRPr>
          </a:p>
          <a:p>
            <a:r>
              <a:rPr lang="en-US" dirty="0">
                <a:solidFill>
                  <a:schemeClr val="bg1"/>
                </a:solidFill>
              </a:rPr>
              <a:t>Graphs!</a:t>
            </a:r>
          </a:p>
          <a:p>
            <a:endParaRPr lang="en-US" dirty="0">
              <a:solidFill>
                <a:schemeClr val="bg1"/>
              </a:solidFill>
            </a:endParaRPr>
          </a:p>
          <a:p>
            <a:r>
              <a:rPr lang="en-US" dirty="0">
                <a:solidFill>
                  <a:schemeClr val="bg1"/>
                </a:solidFill>
              </a:rPr>
              <a:t>Tables!</a:t>
            </a:r>
          </a:p>
        </p:txBody>
      </p:sp>
    </p:spTree>
    <p:extLst>
      <p:ext uri="{BB962C8B-B14F-4D97-AF65-F5344CB8AC3E}">
        <p14:creationId xmlns:p14="http://schemas.microsoft.com/office/powerpoint/2010/main" val="822687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52BC2-8AD7-5A80-FA84-5D7B30B3BBD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F4303D7-7EE4-59DD-82E5-350E9039C234}"/>
              </a:ext>
            </a:extLst>
          </p:cNvPr>
          <p:cNvSpPr>
            <a:spLocks noGrp="1"/>
          </p:cNvSpPr>
          <p:nvPr>
            <p:ph type="title"/>
          </p:nvPr>
        </p:nvSpPr>
        <p:spPr>
          <a:xfrm>
            <a:off x="238539" y="400486"/>
            <a:ext cx="10591025" cy="1203028"/>
          </a:xfrm>
        </p:spPr>
        <p:txBody>
          <a:bodyPr/>
          <a:lstStyle/>
          <a:p>
            <a:r>
              <a:rPr lang="en-US" dirty="0"/>
              <a:t>Optimization idea 3 – ?</a:t>
            </a:r>
          </a:p>
        </p:txBody>
      </p:sp>
      <p:sp>
        <p:nvSpPr>
          <p:cNvPr id="9" name="TextBox 8">
            <a:extLst>
              <a:ext uri="{FF2B5EF4-FFF2-40B4-BE49-F238E27FC236}">
                <a16:creationId xmlns:a16="http://schemas.microsoft.com/office/drawing/2014/main" id="{D1235E0F-CE70-7549-FB6F-DB5479531DD5}"/>
              </a:ext>
            </a:extLst>
          </p:cNvPr>
          <p:cNvSpPr txBox="1"/>
          <p:nvPr/>
        </p:nvSpPr>
        <p:spPr>
          <a:xfrm>
            <a:off x="417443" y="1855304"/>
            <a:ext cx="11178209" cy="1477328"/>
          </a:xfrm>
          <a:prstGeom prst="rect">
            <a:avLst/>
          </a:prstGeom>
          <a:noFill/>
        </p:spPr>
        <p:txBody>
          <a:bodyPr wrap="square" rtlCol="0">
            <a:spAutoFit/>
          </a:bodyPr>
          <a:lstStyle/>
          <a:p>
            <a:r>
              <a:rPr lang="en-US" dirty="0">
                <a:solidFill>
                  <a:schemeClr val="bg1"/>
                </a:solidFill>
              </a:rPr>
              <a:t>Results!</a:t>
            </a:r>
          </a:p>
          <a:p>
            <a:endParaRPr lang="en-US" dirty="0">
              <a:solidFill>
                <a:schemeClr val="bg1"/>
              </a:solidFill>
            </a:endParaRPr>
          </a:p>
          <a:p>
            <a:r>
              <a:rPr lang="en-US" dirty="0">
                <a:solidFill>
                  <a:schemeClr val="bg1"/>
                </a:solidFill>
              </a:rPr>
              <a:t>Graphs!</a:t>
            </a:r>
          </a:p>
          <a:p>
            <a:endParaRPr lang="en-US" dirty="0">
              <a:solidFill>
                <a:schemeClr val="bg1"/>
              </a:solidFill>
            </a:endParaRPr>
          </a:p>
          <a:p>
            <a:r>
              <a:rPr lang="en-US" dirty="0">
                <a:solidFill>
                  <a:schemeClr val="bg1"/>
                </a:solidFill>
              </a:rPr>
              <a:t>Tables!</a:t>
            </a:r>
          </a:p>
        </p:txBody>
      </p:sp>
    </p:spTree>
    <p:extLst>
      <p:ext uri="{BB962C8B-B14F-4D97-AF65-F5344CB8AC3E}">
        <p14:creationId xmlns:p14="http://schemas.microsoft.com/office/powerpoint/2010/main" val="1845701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7644E-84F2-A808-CE9C-8DD1765945E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BB57DA8-424F-D299-8933-2085128D4246}"/>
              </a:ext>
            </a:extLst>
          </p:cNvPr>
          <p:cNvSpPr>
            <a:spLocks noGrp="1"/>
          </p:cNvSpPr>
          <p:nvPr>
            <p:ph type="title"/>
          </p:nvPr>
        </p:nvSpPr>
        <p:spPr>
          <a:xfrm>
            <a:off x="238539" y="400486"/>
            <a:ext cx="10591025" cy="1203028"/>
          </a:xfrm>
        </p:spPr>
        <p:txBody>
          <a:bodyPr/>
          <a:lstStyle/>
          <a:p>
            <a:r>
              <a:rPr lang="en-US" dirty="0"/>
              <a:t>Conclusion and overall results</a:t>
            </a:r>
          </a:p>
        </p:txBody>
      </p:sp>
      <p:sp>
        <p:nvSpPr>
          <p:cNvPr id="9" name="TextBox 8">
            <a:extLst>
              <a:ext uri="{FF2B5EF4-FFF2-40B4-BE49-F238E27FC236}">
                <a16:creationId xmlns:a16="http://schemas.microsoft.com/office/drawing/2014/main" id="{71F35D2F-246C-488C-A7E6-868FBB25F279}"/>
              </a:ext>
            </a:extLst>
          </p:cNvPr>
          <p:cNvSpPr txBox="1"/>
          <p:nvPr/>
        </p:nvSpPr>
        <p:spPr>
          <a:xfrm>
            <a:off x="417443" y="1855304"/>
            <a:ext cx="11178209" cy="4801314"/>
          </a:xfrm>
          <a:prstGeom prst="rect">
            <a:avLst/>
          </a:prstGeom>
          <a:noFill/>
        </p:spPr>
        <p:txBody>
          <a:bodyPr wrap="square" rtlCol="0">
            <a:spAutoFit/>
          </a:bodyPr>
          <a:lstStyle/>
          <a:p>
            <a:r>
              <a:rPr lang="en-US" dirty="0">
                <a:solidFill>
                  <a:schemeClr val="bg1"/>
                </a:solidFill>
              </a:rPr>
              <a:t>Placeholder Results and Conclusions</a:t>
            </a:r>
          </a:p>
          <a:p>
            <a:endParaRPr lang="en-US" dirty="0">
              <a:solidFill>
                <a:schemeClr val="bg1"/>
              </a:solidFill>
            </a:endParaRPr>
          </a:p>
          <a:p>
            <a:r>
              <a:rPr lang="en-US" dirty="0">
                <a:solidFill>
                  <a:schemeClr val="bg1"/>
                </a:solidFill>
              </a:rPr>
              <a:t>At this stage, the reported results are preliminary and should be treated as placeholders. The project has established the baseline implementations and identified several promising CUDA optimization techniques, including improved memory coalescing, GPU-resident population evolution, and possible 2-opt local search improvements. However, these optimizations have not yet been fully implemented, benchmarked, or validated.</a:t>
            </a:r>
          </a:p>
          <a:p>
            <a:endParaRPr lang="en-US" dirty="0">
              <a:solidFill>
                <a:schemeClr val="bg1"/>
              </a:solidFill>
            </a:endParaRPr>
          </a:p>
          <a:p>
            <a:r>
              <a:rPr lang="en-US" dirty="0">
                <a:solidFill>
                  <a:schemeClr val="bg1"/>
                </a:solidFill>
              </a:rPr>
              <a:t>The current conclusion is that CUDA offers strong potential for accelerating the Traveling Salesman genetic algorithm, especially in the fitness-evaluation stage where many tours can be processed in parallel. Future work will focus on implementing the proposed optimizations, measuring their effect on runtime and solution quality, and comparing the optimized GPU versions against the sequential and naive CUDA baselines.</a:t>
            </a:r>
          </a:p>
          <a:p>
            <a:endParaRPr lang="en-US" dirty="0">
              <a:solidFill>
                <a:schemeClr val="bg1"/>
              </a:solidFill>
            </a:endParaRPr>
          </a:p>
          <a:p>
            <a:r>
              <a:rPr lang="en-US" dirty="0">
                <a:solidFill>
                  <a:schemeClr val="bg1"/>
                </a:solidFill>
              </a:rPr>
              <a:t>Results!</a:t>
            </a:r>
          </a:p>
          <a:p>
            <a:endParaRPr lang="en-US" dirty="0">
              <a:solidFill>
                <a:schemeClr val="bg1"/>
              </a:solidFill>
            </a:endParaRPr>
          </a:p>
          <a:p>
            <a:r>
              <a:rPr lang="en-US" dirty="0">
                <a:solidFill>
                  <a:schemeClr val="bg1"/>
                </a:solidFill>
              </a:rPr>
              <a:t>Graphs!</a:t>
            </a:r>
          </a:p>
          <a:p>
            <a:endParaRPr lang="en-US" dirty="0">
              <a:solidFill>
                <a:schemeClr val="bg1"/>
              </a:solidFill>
            </a:endParaRPr>
          </a:p>
          <a:p>
            <a:r>
              <a:rPr lang="en-US" dirty="0">
                <a:solidFill>
                  <a:schemeClr val="bg1"/>
                </a:solidFill>
              </a:rPr>
              <a:t>Tables!</a:t>
            </a:r>
          </a:p>
        </p:txBody>
      </p:sp>
    </p:spTree>
    <p:extLst>
      <p:ext uri="{BB962C8B-B14F-4D97-AF65-F5344CB8AC3E}">
        <p14:creationId xmlns:p14="http://schemas.microsoft.com/office/powerpoint/2010/main" val="926614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B05EF-E886-8F19-CD48-618769CBD31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0E2A952-FC6A-44AB-36B0-B5C689464DE6}"/>
              </a:ext>
            </a:extLst>
          </p:cNvPr>
          <p:cNvSpPr>
            <a:spLocks noGrp="1"/>
          </p:cNvSpPr>
          <p:nvPr>
            <p:ph type="title"/>
          </p:nvPr>
        </p:nvSpPr>
        <p:spPr>
          <a:xfrm>
            <a:off x="417443" y="2282295"/>
            <a:ext cx="10591025" cy="1203028"/>
          </a:xfrm>
        </p:spPr>
        <p:txBody>
          <a:bodyPr/>
          <a:lstStyle/>
          <a:p>
            <a:r>
              <a:rPr lang="en-US" dirty="0"/>
              <a:t>Questions?</a:t>
            </a:r>
          </a:p>
        </p:txBody>
      </p:sp>
    </p:spTree>
    <p:extLst>
      <p:ext uri="{BB962C8B-B14F-4D97-AF65-F5344CB8AC3E}">
        <p14:creationId xmlns:p14="http://schemas.microsoft.com/office/powerpoint/2010/main" val="338392241"/>
      </p:ext>
    </p:extLst>
  </p:cSld>
  <p:clrMapOvr>
    <a:masterClrMapping/>
  </p:clrMapOvr>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3.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Gallery</Template>
  <TotalTime>73</TotalTime>
  <Words>778</Words>
  <Application>Microsoft Office PowerPoint</Application>
  <PresentationFormat>Widescreen</PresentationFormat>
  <Paragraphs>70</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Calibri Light</vt:lpstr>
      <vt:lpstr>Wingdings</vt:lpstr>
      <vt:lpstr>Custom</vt:lpstr>
      <vt:lpstr>Cuda Accelerated implementation of Traveling Salesman Problem using Genetic Algorithms (TSP-GA) </vt:lpstr>
      <vt:lpstr>ABSTRACT</vt:lpstr>
      <vt:lpstr>Background – Traveling salesman</vt:lpstr>
      <vt:lpstr>Background-genetic algorithms</vt:lpstr>
      <vt:lpstr>Design challenge – cuda specific</vt:lpstr>
      <vt:lpstr>Basic tsp solver for cuda</vt:lpstr>
      <vt:lpstr>Basic ga for cuda</vt:lpstr>
      <vt:lpstr>Optimization idea 1 - coalesing</vt:lpstr>
      <vt:lpstr>Optimization idea 2 – opt 2</vt:lpstr>
      <vt:lpstr>Optimization idea 3 – ?</vt:lpstr>
      <vt:lpstr>Conclusion and overall results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Rumsey, Christopher Stephen - (rumsey)</dc:creator>
  <cp:lastModifiedBy>Rumsey, Christopher Stephen - (rumsey)</cp:lastModifiedBy>
  <cp:revision>10</cp:revision>
  <dcterms:created xsi:type="dcterms:W3CDTF">2026-04-23T17:21:28Z</dcterms:created>
  <dcterms:modified xsi:type="dcterms:W3CDTF">2026-04-28T17:23:46Z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