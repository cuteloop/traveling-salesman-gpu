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handoutMasterIdLst>
    <p:handoutMasterId r:id="rId22"/>
  </p:handoutMasterIdLst>
  <p:sldIdLst>
    <p:sldId id="281" r:id="rId5"/>
    <p:sldId id="282" r:id="rId6"/>
    <p:sldId id="283" r:id="rId7"/>
    <p:sldId id="284" r:id="rId8"/>
    <p:sldId id="301" r:id="rId9"/>
    <p:sldId id="285" r:id="rId10"/>
    <p:sldId id="286" r:id="rId11"/>
    <p:sldId id="287" r:id="rId12"/>
    <p:sldId id="297" r:id="rId13"/>
    <p:sldId id="298" r:id="rId14"/>
    <p:sldId id="299" r:id="rId15"/>
    <p:sldId id="294" r:id="rId16"/>
    <p:sldId id="295" r:id="rId17"/>
    <p:sldId id="300" r:id="rId18"/>
    <p:sldId id="288" r:id="rId19"/>
    <p:sldId id="29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879" autoAdjust="0"/>
  </p:normalViewPr>
  <p:slideViewPr>
    <p:cSldViewPr snapToGrid="0">
      <p:cViewPr varScale="1">
        <p:scale>
          <a:sx n="59" d="100"/>
          <a:sy n="59" d="100"/>
        </p:scale>
        <p:origin x="964" y="52"/>
      </p:cViewPr>
      <p:guideLst/>
    </p:cSldViewPr>
  </p:slideViewPr>
  <p:outlineViewPr>
    <p:cViewPr>
      <p:scale>
        <a:sx n="33" d="100"/>
        <a:sy n="33" d="100"/>
      </p:scale>
      <p:origin x="0" y="-4032"/>
    </p:cViewPr>
  </p:outlineViewPr>
  <p:notesTextViewPr>
    <p:cViewPr>
      <p:scale>
        <a:sx n="1" d="1"/>
        <a:sy n="1" d="1"/>
      </p:scale>
      <p:origin x="0" y="0"/>
    </p:cViewPr>
  </p:notesTextViewPr>
  <p:sorterViewPr>
    <p:cViewPr>
      <p:scale>
        <a:sx n="100" d="100"/>
        <a:sy n="100" d="100"/>
      </p:scale>
      <p:origin x="0" y="-1757"/>
    </p:cViewPr>
  </p:sorterViewPr>
  <p:notesViewPr>
    <p:cSldViewPr snapToGrid="0">
      <p:cViewPr>
        <p:scale>
          <a:sx n="1" d="2"/>
          <a:sy n="1" d="2"/>
        </p:scale>
        <p:origin x="3480" y="55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76AB79-C677-3DB7-78CF-9305D58614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13AB137-CEA6-0244-F12B-1ECC21172D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C994AA-C437-4EF4-8BEF-0B832D7FA420}" type="datetimeFigureOut">
              <a:rPr lang="en-US" smtClean="0"/>
              <a:t>4/27/2026</a:t>
            </a:fld>
            <a:endParaRPr lang="en-US"/>
          </a:p>
        </p:txBody>
      </p:sp>
      <p:sp>
        <p:nvSpPr>
          <p:cNvPr id="4" name="Footer Placeholder 3">
            <a:extLst>
              <a:ext uri="{FF2B5EF4-FFF2-40B4-BE49-F238E27FC236}">
                <a16:creationId xmlns:a16="http://schemas.microsoft.com/office/drawing/2014/main" id="{0868EC96-C6CC-F2AF-D90F-143F4D20A07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4F8EC8D-EF88-0275-F75C-A789924433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57874-EF65-4B61-B062-40C932C81294}" type="slidenum">
              <a:rPr lang="en-US" smtClean="0"/>
              <a:t>‹#›</a:t>
            </a:fld>
            <a:endParaRPr lang="en-US"/>
          </a:p>
        </p:txBody>
      </p:sp>
    </p:spTree>
    <p:extLst>
      <p:ext uri="{BB962C8B-B14F-4D97-AF65-F5344CB8AC3E}">
        <p14:creationId xmlns:p14="http://schemas.microsoft.com/office/powerpoint/2010/main" val="34720278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4FE048-FAD0-D943-9A17-3C4CB7633182}"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247812-3409-784D-BAE7-ABE53735D59F}" type="slidenum">
              <a:rPr lang="en-US" smtClean="0"/>
              <a:t>‹#›</a:t>
            </a:fld>
            <a:endParaRPr lang="en-US"/>
          </a:p>
        </p:txBody>
      </p:sp>
    </p:spTree>
    <p:extLst>
      <p:ext uri="{BB962C8B-B14F-4D97-AF65-F5344CB8AC3E}">
        <p14:creationId xmlns:p14="http://schemas.microsoft.com/office/powerpoint/2010/main" val="1015030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5247812-3409-784D-BAE7-ABE53735D59F}" type="slidenum">
              <a:rPr lang="en-US" smtClean="0"/>
              <a:t>2</a:t>
            </a:fld>
            <a:endParaRPr lang="en-US"/>
          </a:p>
        </p:txBody>
      </p:sp>
    </p:spTree>
    <p:extLst>
      <p:ext uri="{BB962C8B-B14F-4D97-AF65-F5344CB8AC3E}">
        <p14:creationId xmlns:p14="http://schemas.microsoft.com/office/powerpoint/2010/main" val="5887181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A7F58C7-D277-8F14-F024-4B41D20D054F}"/>
              </a:ext>
            </a:extLst>
          </p:cNvPr>
          <p:cNvSpPr>
            <a:spLocks noGrp="1"/>
          </p:cNvSpPr>
          <p:nvPr>
            <p:ph type="pic" sz="quarter" idx="10"/>
          </p:nvPr>
        </p:nvSpPr>
        <p:spPr>
          <a:xfrm>
            <a:off x="0" y="0"/>
            <a:ext cx="12192000"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6" name="Title 1">
            <a:extLst>
              <a:ext uri="{FF2B5EF4-FFF2-40B4-BE49-F238E27FC236}">
                <a16:creationId xmlns:a16="http://schemas.microsoft.com/office/drawing/2014/main" id="{2E8C189B-2E00-67DA-E342-3440F5EBB4CE}"/>
              </a:ext>
            </a:extLst>
          </p:cNvPr>
          <p:cNvSpPr>
            <a:spLocks noGrp="1"/>
          </p:cNvSpPr>
          <p:nvPr>
            <p:ph type="ctrTitle" hasCustomPrompt="1"/>
          </p:nvPr>
        </p:nvSpPr>
        <p:spPr>
          <a:xfrm>
            <a:off x="1524000" y="2286000"/>
            <a:ext cx="9144000" cy="2286000"/>
          </a:xfrm>
        </p:spPr>
        <p:txBody>
          <a:bodyPr anchor="ctr" anchorCtr="0">
            <a:noAutofit/>
          </a:bodyPr>
          <a:lstStyle>
            <a:lvl1pPr algn="ctr">
              <a:defRPr sz="4800">
                <a:solidFill>
                  <a:schemeClr val="bg1"/>
                </a:solidFill>
              </a:defRPr>
            </a:lvl1pPr>
          </a:lstStyle>
          <a:p>
            <a:r>
              <a:rPr lang="en-US" dirty="0"/>
              <a:t>Click to add title</a:t>
            </a:r>
          </a:p>
        </p:txBody>
      </p:sp>
    </p:spTree>
    <p:extLst>
      <p:ext uri="{BB962C8B-B14F-4D97-AF65-F5344CB8AC3E}">
        <p14:creationId xmlns:p14="http://schemas.microsoft.com/office/powerpoint/2010/main" val="34246750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6562816" y="457200"/>
            <a:ext cx="4837176" cy="1993392"/>
          </a:xfrm>
        </p:spPr>
        <p:txBody>
          <a:bodyPr anchor="b">
            <a:noAutofit/>
          </a:bodyPr>
          <a:lstStyle>
            <a:lvl1pPr>
              <a:defRPr sz="3200"/>
            </a:lvl1pPr>
          </a:lstStyle>
          <a:p>
            <a:r>
              <a:rPr lang="en-US" dirty="0"/>
              <a:t>Click to add title</a:t>
            </a:r>
          </a:p>
        </p:txBody>
      </p:sp>
      <p:sp>
        <p:nvSpPr>
          <p:cNvPr id="10" name="Picture Placeholder 9">
            <a:extLst>
              <a:ext uri="{FF2B5EF4-FFF2-40B4-BE49-F238E27FC236}">
                <a16:creationId xmlns:a16="http://schemas.microsoft.com/office/drawing/2014/main" id="{6B8CBAD6-FC79-B2BB-0B67-26429A6D4C8C}"/>
              </a:ext>
            </a:extLst>
          </p:cNvPr>
          <p:cNvSpPr>
            <a:spLocks noGrp="1"/>
          </p:cNvSpPr>
          <p:nvPr>
            <p:ph type="pic" sz="quarter" idx="10"/>
          </p:nvPr>
        </p:nvSpPr>
        <p:spPr>
          <a:xfrm>
            <a:off x="-28882" y="0"/>
            <a:ext cx="6115050" cy="6858000"/>
          </a:xfrm>
          <a:prstGeom prst="parallelogram">
            <a:avLst/>
          </a:prstGeom>
          <a:ln>
            <a:noFill/>
          </a:ln>
        </p:spPr>
        <p:txBody>
          <a:bodyPr tIns="0">
            <a:normAutofit/>
          </a:bodyPr>
          <a:lstStyle>
            <a:lvl1pPr marL="0" indent="0" algn="ctr">
              <a:buNone/>
              <a:defRPr sz="2000"/>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6562818" y="2752344"/>
            <a:ext cx="4837174" cy="3136392"/>
          </a:xfrm>
        </p:spPr>
        <p:txBody>
          <a:bodyPr anchor="t" anchorCtr="0">
            <a:normAutofit/>
          </a:bodyPr>
          <a:lstStyle>
            <a:lvl1pPr marL="0" indent="0">
              <a:lnSpc>
                <a:spcPct val="150000"/>
              </a:lnSpc>
              <a:spcBef>
                <a:spcPts val="1000"/>
              </a:spcBef>
              <a:buNone/>
              <a:defRPr sz="1800" cap="all" spc="300" baseline="0"/>
            </a:lvl1pPr>
            <a:lvl2pPr marL="457200" indent="0">
              <a:lnSpc>
                <a:spcPct val="150000"/>
              </a:lnSpc>
              <a:spcBef>
                <a:spcPts val="1000"/>
              </a:spcBef>
              <a:buNone/>
              <a:defRPr sz="1800" cap="all" spc="300" baseline="0"/>
            </a:lvl2pPr>
            <a:lvl3pPr marL="914400" indent="0">
              <a:lnSpc>
                <a:spcPct val="150000"/>
              </a:lnSpc>
              <a:spcBef>
                <a:spcPts val="1000"/>
              </a:spcBef>
              <a:buNone/>
              <a:defRPr sz="1800" cap="all" spc="300" baseline="0"/>
            </a:lvl3pPr>
            <a:lvl4pPr marL="1371600" indent="0">
              <a:lnSpc>
                <a:spcPct val="150000"/>
              </a:lnSpc>
              <a:spcBef>
                <a:spcPts val="1000"/>
              </a:spcBef>
              <a:buNone/>
              <a:defRPr sz="1800" cap="all" spc="300" baseline="0"/>
            </a:lvl4pPr>
            <a:lvl5pPr marL="1828800" indent="0">
              <a:lnSpc>
                <a:spcPct val="150000"/>
              </a:lnSpc>
              <a:spcBef>
                <a:spcPts val="1000"/>
              </a:spcBef>
              <a:buNone/>
              <a:defRPr sz="1800" cap="all" spc="300" baseline="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Rectangle 10">
            <a:extLst>
              <a:ext uri="{FF2B5EF4-FFF2-40B4-BE49-F238E27FC236}">
                <a16:creationId xmlns:a16="http://schemas.microsoft.com/office/drawing/2014/main" id="{934796A3-781D-5244-DAB8-2D6EE0AC3B70}"/>
              </a:ext>
              <a:ext uri="{C183D7F6-B498-43B3-948B-1728B52AA6E4}">
                <adec:decorative xmlns:adec="http://schemas.microsoft.com/office/drawing/2017/decorative" val="1"/>
              </a:ext>
            </a:extLst>
          </p:cNvPr>
          <p:cNvSpPr/>
          <p:nvPr userDrawn="1"/>
        </p:nvSpPr>
        <p:spPr>
          <a:xfrm>
            <a:off x="6562817" y="6303963"/>
            <a:ext cx="3014980"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143880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1117600" y="762000"/>
            <a:ext cx="5066250" cy="2900680"/>
          </a:xfrm>
        </p:spPr>
        <p:txBody>
          <a:bodyPr anchor="b">
            <a:noAutofit/>
          </a:bodyPr>
          <a:lstStyle>
            <a:lvl1pPr algn="ctr">
              <a:defRPr sz="32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82836803-D9E6-3DF1-3B90-1E7E677CC7B7}"/>
              </a:ext>
            </a:extLst>
          </p:cNvPr>
          <p:cNvSpPr>
            <a:spLocks noGrp="1"/>
          </p:cNvSpPr>
          <p:nvPr>
            <p:ph type="pic" sz="quarter" idx="10" hasCustomPrompt="1"/>
          </p:nvPr>
        </p:nvSpPr>
        <p:spPr>
          <a:xfrm flipH="1">
            <a:off x="6086167" y="-22225"/>
            <a:ext cx="6080760" cy="6902450"/>
          </a:xfrm>
          <a:prstGeom prst="parallelogram">
            <a:avLst/>
          </a:prstGeom>
          <a:ln>
            <a:noFill/>
          </a:ln>
        </p:spPr>
        <p:txBody>
          <a:bodyPr lIns="0" tIns="0">
            <a:normAutofit/>
          </a:bodyPr>
          <a:lstStyle>
            <a:lvl1pPr marL="0" indent="0" algn="l">
              <a:buNone/>
              <a:defRPr sz="2000"/>
            </a:lvl1pPr>
          </a:lstStyle>
          <a:p>
            <a:r>
              <a:rPr lang="en-US" dirty="0"/>
              <a:t>Click icon to add image</a:t>
            </a:r>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1117600" y="4145280"/>
            <a:ext cx="5066250" cy="690880"/>
          </a:xfrm>
          <a:gradFill flip="none" rotWithShape="1">
            <a:gsLst>
              <a:gs pos="0">
                <a:schemeClr val="accent5"/>
              </a:gs>
              <a:gs pos="100000">
                <a:schemeClr val="accent2">
                  <a:lumMod val="97000"/>
                  <a:lumOff val="3000"/>
                </a:schemeClr>
              </a:gs>
              <a:gs pos="50000">
                <a:schemeClr val="accent1"/>
              </a:gs>
            </a:gsLst>
            <a:lin ang="10200000" scaled="0"/>
            <a:tileRect/>
          </a:gradFill>
        </p:spPr>
        <p:txBody>
          <a:bodyPr anchor="ctr">
            <a:normAutofit/>
          </a:bodyPr>
          <a:lstStyle>
            <a:lvl1pPr marL="0" indent="0" algn="ctr">
              <a:buNone/>
              <a:defRPr sz="2400" cap="all" baseline="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Tree>
    <p:extLst>
      <p:ext uri="{BB962C8B-B14F-4D97-AF65-F5344CB8AC3E}">
        <p14:creationId xmlns:p14="http://schemas.microsoft.com/office/powerpoint/2010/main" val="19241863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5242425" y="466344"/>
            <a:ext cx="6241651" cy="1710354"/>
          </a:xfrm>
        </p:spPr>
        <p:txBody>
          <a:bodyPr bIns="0" anchor="ctr" anchorCtr="0">
            <a:noAutofit/>
          </a:bodyPr>
          <a:lstStyle>
            <a:lvl1pPr>
              <a:defRPr sz="3200"/>
            </a:lvl1pPr>
          </a:lstStyle>
          <a:p>
            <a:r>
              <a:rPr lang="en-US" dirty="0"/>
              <a:t>Click to add title</a:t>
            </a:r>
          </a:p>
        </p:txBody>
      </p:sp>
      <p:sp>
        <p:nvSpPr>
          <p:cNvPr id="10" name="Picture Placeholder 9">
            <a:extLst>
              <a:ext uri="{FF2B5EF4-FFF2-40B4-BE49-F238E27FC236}">
                <a16:creationId xmlns:a16="http://schemas.microsoft.com/office/drawing/2014/main" id="{511A5385-FB23-93A8-2B8F-9887244244DF}"/>
              </a:ext>
            </a:extLst>
          </p:cNvPr>
          <p:cNvSpPr>
            <a:spLocks noGrp="1"/>
          </p:cNvSpPr>
          <p:nvPr>
            <p:ph type="pic" sz="quarter" idx="10"/>
          </p:nvPr>
        </p:nvSpPr>
        <p:spPr>
          <a:xfrm>
            <a:off x="0" y="0"/>
            <a:ext cx="4287838" cy="6858000"/>
          </a:xfrm>
        </p:spPr>
        <p:txBody>
          <a:bodyPr>
            <a:normAutofit/>
          </a:bodyPr>
          <a:lstStyle>
            <a:lvl1pPr marL="0" indent="0" algn="ctr">
              <a:buNone/>
              <a:defRPr sz="2000"/>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hasCustomPrompt="1"/>
          </p:nvPr>
        </p:nvSpPr>
        <p:spPr>
          <a:xfrm>
            <a:off x="5242426" y="2286000"/>
            <a:ext cx="6241650" cy="3474720"/>
          </a:xfrm>
        </p:spPr>
        <p:txBody>
          <a:bodyPr>
            <a:normAutofit/>
          </a:bodyPr>
          <a:lstStyle>
            <a:lvl1pPr marL="228600" indent="-228600">
              <a:spcBef>
                <a:spcPts val="1000"/>
              </a:spcBef>
              <a:spcAft>
                <a:spcPts val="1000"/>
              </a:spcAft>
              <a:buClr>
                <a:schemeClr val="accent2"/>
              </a:buClr>
              <a:buFont typeface="Wingdings" panose="05000000000000000000" pitchFamily="2" charset="2"/>
              <a:buChar char="§"/>
              <a:defRPr sz="1800"/>
            </a:lvl1pPr>
            <a:lvl2pPr marL="228600" indent="-228600">
              <a:spcBef>
                <a:spcPts val="1000"/>
              </a:spcBef>
              <a:spcAft>
                <a:spcPts val="1000"/>
              </a:spcAft>
              <a:buClr>
                <a:schemeClr val="accent2"/>
              </a:buClr>
              <a:buFont typeface="Wingdings" panose="05000000000000000000" pitchFamily="2" charset="2"/>
              <a:buChar char="§"/>
              <a:defRPr sz="1800"/>
            </a:lvl2pPr>
            <a:lvl3pPr marL="228600" indent="-228600">
              <a:spcBef>
                <a:spcPts val="1000"/>
              </a:spcBef>
              <a:spcAft>
                <a:spcPts val="1000"/>
              </a:spcAft>
              <a:buClr>
                <a:schemeClr val="accent2"/>
              </a:buClr>
              <a:buFont typeface="Wingdings" panose="05000000000000000000" pitchFamily="2" charset="2"/>
              <a:buChar char="§"/>
              <a:defRPr sz="1800"/>
            </a:lvl3pPr>
            <a:lvl4pPr marL="228600" indent="-228600">
              <a:spcBef>
                <a:spcPts val="1000"/>
              </a:spcBef>
              <a:spcAft>
                <a:spcPts val="1000"/>
              </a:spcAft>
              <a:buClr>
                <a:schemeClr val="accent2"/>
              </a:buClr>
              <a:buFont typeface="Wingdings" panose="05000000000000000000" pitchFamily="2" charset="2"/>
              <a:buChar char="§"/>
              <a:defRPr sz="1800"/>
            </a:lvl4pPr>
            <a:lvl5pPr marL="228600" indent="-228600">
              <a:spcBef>
                <a:spcPts val="1000"/>
              </a:spcBef>
              <a:spcAft>
                <a:spcPts val="1000"/>
              </a:spcAft>
              <a:buClr>
                <a:schemeClr val="accent2"/>
              </a:buClr>
              <a:buFont typeface="Wingdings" panose="05000000000000000000" pitchFamily="2" charset="2"/>
              <a:buChar char="§"/>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50E25A87-9155-9E07-878F-CEC0B137C2D7}"/>
              </a:ext>
              <a:ext uri="{C183D7F6-B498-43B3-948B-1728B52AA6E4}">
                <adec:decorative xmlns:adec="http://schemas.microsoft.com/office/drawing/2017/decorative" val="1"/>
              </a:ext>
            </a:extLst>
          </p:cNvPr>
          <p:cNvSpPr/>
          <p:nvPr userDrawn="1"/>
        </p:nvSpPr>
        <p:spPr>
          <a:xfrm>
            <a:off x="5291586" y="6303963"/>
            <a:ext cx="4287186"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87894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hasCustomPrompt="1"/>
          </p:nvPr>
        </p:nvSpPr>
        <p:spPr>
          <a:xfrm>
            <a:off x="1524000" y="1143000"/>
            <a:ext cx="9144000" cy="2286000"/>
          </a:xfrm>
        </p:spPr>
        <p:txBody>
          <a:bodyPr anchor="b">
            <a:noAutofit/>
          </a:bodyPr>
          <a:lstStyle>
            <a:lvl1pPr algn="ctr">
              <a:defRPr sz="4800"/>
            </a:lvl1pPr>
          </a:lstStyle>
          <a:p>
            <a:r>
              <a:rPr lang="en-US" dirty="0"/>
              <a:t>Click to add title</a:t>
            </a:r>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hasCustomPrompt="1"/>
          </p:nvPr>
        </p:nvSpPr>
        <p:spPr>
          <a:xfrm>
            <a:off x="1524000" y="3835198"/>
            <a:ext cx="9144000" cy="683219"/>
          </a:xfrm>
          <a:gradFill>
            <a:gsLst>
              <a:gs pos="0">
                <a:schemeClr val="accent5"/>
              </a:gs>
              <a:gs pos="100000">
                <a:schemeClr val="accent2">
                  <a:lumMod val="97000"/>
                  <a:lumOff val="3000"/>
                </a:schemeClr>
              </a:gs>
              <a:gs pos="50000">
                <a:schemeClr val="accent1"/>
              </a:gs>
            </a:gsLst>
            <a:path path="circle">
              <a:fillToRect l="100000" t="100000"/>
            </a:path>
          </a:gradFill>
        </p:spPr>
        <p:txBody>
          <a:bodyPr anchor="ctr">
            <a:normAutofit/>
          </a:bodyPr>
          <a:lstStyle>
            <a:lvl1pPr marL="0" indent="0" algn="ctr">
              <a:buNone/>
              <a:defRPr sz="2400" cap="all" spc="3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Tree>
    <p:extLst>
      <p:ext uri="{BB962C8B-B14F-4D97-AF65-F5344CB8AC3E}">
        <p14:creationId xmlns:p14="http://schemas.microsoft.com/office/powerpoint/2010/main" val="15637277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1">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9577E27-B60E-C6DD-BAAF-5CCC3D59E5D5}"/>
              </a:ext>
              <a:ext uri="{C183D7F6-B498-43B3-948B-1728B52AA6E4}">
                <adec:decorative xmlns:adec="http://schemas.microsoft.com/office/drawing/2017/decorative" val="1"/>
              </a:ext>
            </a:extLst>
          </p:cNvPr>
          <p:cNvSpPr/>
          <p:nvPr userDrawn="1"/>
        </p:nvSpPr>
        <p:spPr>
          <a:xfrm>
            <a:off x="0" y="6303963"/>
            <a:ext cx="12192000" cy="554037"/>
          </a:xfrm>
          <a:prstGeom prst="rect">
            <a:avLst/>
          </a:prstGeom>
          <a:gradFill flip="none" rotWithShape="1">
            <a:gsLst>
              <a:gs pos="0">
                <a:schemeClr val="accent5"/>
              </a:gs>
              <a:gs pos="100000">
                <a:schemeClr val="accent2">
                  <a:lumMod val="97000"/>
                  <a:lumOff val="3000"/>
                </a:schemeClr>
              </a:gs>
              <a:gs pos="50000">
                <a:schemeClr val="accent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880"/>
          </a:xfrm>
        </p:spPr>
        <p:txBody>
          <a:bodyPr anchor="ctr" anchorCtr="0">
            <a:noAutofit/>
          </a:bodyPr>
          <a:lstStyle>
            <a:lvl1pPr algn="ctr">
              <a:defRPr sz="3200"/>
            </a:lvl1pPr>
          </a:lstStyle>
          <a:p>
            <a:r>
              <a:rPr lang="en-US" dirty="0"/>
              <a:t>Click to add title</a:t>
            </a:r>
          </a:p>
        </p:txBody>
      </p:sp>
      <p:sp>
        <p:nvSpPr>
          <p:cNvPr id="9" name="Content Placeholder 10">
            <a:extLst>
              <a:ext uri="{FF2B5EF4-FFF2-40B4-BE49-F238E27FC236}">
                <a16:creationId xmlns:a16="http://schemas.microsoft.com/office/drawing/2014/main" id="{964CA031-27E0-D0AA-1451-A904CCF234FE}"/>
              </a:ext>
            </a:extLst>
          </p:cNvPr>
          <p:cNvSpPr>
            <a:spLocks noGrp="1"/>
          </p:cNvSpPr>
          <p:nvPr>
            <p:ph sz="quarter" idx="13" hasCustomPrompt="1"/>
          </p:nvPr>
        </p:nvSpPr>
        <p:spPr>
          <a:xfrm>
            <a:off x="838199" y="2024781"/>
            <a:ext cx="5212079"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81FE0D7D-86B7-CCD2-A7A1-70E95846B542}"/>
              </a:ext>
            </a:extLst>
          </p:cNvPr>
          <p:cNvSpPr>
            <a:spLocks noGrp="1"/>
          </p:cNvSpPr>
          <p:nvPr>
            <p:ph sz="quarter" idx="14" hasCustomPrompt="1"/>
          </p:nvPr>
        </p:nvSpPr>
        <p:spPr>
          <a:xfrm>
            <a:off x="6459795" y="2024780"/>
            <a:ext cx="4894006"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505290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880"/>
          </a:xfrm>
        </p:spPr>
        <p:txBody>
          <a:bodyPr anchor="ctr" anchorCtr="0">
            <a:noAutofit/>
          </a:bodyPr>
          <a:lstStyle>
            <a:lvl1pPr algn="ctr">
              <a:defRPr sz="3200"/>
            </a:lvl1pPr>
          </a:lstStyle>
          <a:p>
            <a:r>
              <a:rPr lang="en-US" dirty="0"/>
              <a:t>Click to add title</a:t>
            </a:r>
          </a:p>
        </p:txBody>
      </p:sp>
      <p:sp>
        <p:nvSpPr>
          <p:cNvPr id="11" name="Content Placeholder 10">
            <a:extLst>
              <a:ext uri="{FF2B5EF4-FFF2-40B4-BE49-F238E27FC236}">
                <a16:creationId xmlns:a16="http://schemas.microsoft.com/office/drawing/2014/main" id="{2D2DE411-9D7C-15AE-0B59-F26B2BF8C522}"/>
              </a:ext>
            </a:extLst>
          </p:cNvPr>
          <p:cNvSpPr>
            <a:spLocks noGrp="1"/>
          </p:cNvSpPr>
          <p:nvPr>
            <p:ph sz="quarter" idx="13" hasCustomPrompt="1"/>
          </p:nvPr>
        </p:nvSpPr>
        <p:spPr>
          <a:xfrm>
            <a:off x="838200" y="2024781"/>
            <a:ext cx="2878394" cy="4137189"/>
          </a:xfrm>
        </p:spPr>
        <p:txBody>
          <a:bodyPr>
            <a:normAutofit/>
          </a:bodyPr>
          <a:lstStyle>
            <a:lvl1pPr marL="342900" indent="-342900">
              <a:spcBef>
                <a:spcPts val="1000"/>
              </a:spcBef>
              <a:spcAft>
                <a:spcPts val="1000"/>
              </a:spcAft>
              <a:buClr>
                <a:schemeClr val="accent2"/>
              </a:buClr>
              <a:buFont typeface="+mj-lt"/>
              <a:buAutoNum type="arabicPeriod"/>
              <a:defRPr sz="1800">
                <a:latin typeface="+mn-lt"/>
              </a:defRPr>
            </a:lvl1pPr>
            <a:lvl2pPr marL="800100" indent="-342900">
              <a:spcBef>
                <a:spcPts val="1000"/>
              </a:spcBef>
              <a:spcAft>
                <a:spcPts val="1000"/>
              </a:spcAft>
              <a:buClr>
                <a:schemeClr val="accent2"/>
              </a:buClr>
              <a:buFont typeface="+mj-lt"/>
              <a:buAutoNum type="alphaLcPeriod"/>
              <a:defRPr sz="1800">
                <a:latin typeface="+mn-lt"/>
              </a:defRPr>
            </a:lvl2pPr>
            <a:lvl3pPr marL="1257300" indent="-342900">
              <a:spcBef>
                <a:spcPts val="1000"/>
              </a:spcBef>
              <a:spcAft>
                <a:spcPts val="1000"/>
              </a:spcAft>
              <a:buClr>
                <a:schemeClr val="accent2"/>
              </a:buClr>
              <a:buFont typeface="+mj-lt"/>
              <a:buAutoNum type="arabicParenR"/>
              <a:defRPr sz="1800">
                <a:latin typeface="+mn-lt"/>
              </a:defRPr>
            </a:lvl3pPr>
            <a:lvl4pPr marL="1714500" indent="-342900">
              <a:spcBef>
                <a:spcPts val="1000"/>
              </a:spcBef>
              <a:spcAft>
                <a:spcPts val="1000"/>
              </a:spcAft>
              <a:buClr>
                <a:schemeClr val="accent2"/>
              </a:buClr>
              <a:buFont typeface="+mj-lt"/>
              <a:buAutoNum type="alphaLcParenR"/>
              <a:defRPr sz="1800">
                <a:latin typeface="+mn-lt"/>
              </a:defRPr>
            </a:lvl4pPr>
            <a:lvl5pPr marL="2057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4" name="Content Placeholder 10">
            <a:extLst>
              <a:ext uri="{FF2B5EF4-FFF2-40B4-BE49-F238E27FC236}">
                <a16:creationId xmlns:a16="http://schemas.microsoft.com/office/drawing/2014/main" id="{60FEDE7C-502F-ECFE-4136-E99206849C2A}"/>
              </a:ext>
            </a:extLst>
          </p:cNvPr>
          <p:cNvSpPr>
            <a:spLocks noGrp="1"/>
          </p:cNvSpPr>
          <p:nvPr>
            <p:ph sz="quarter" idx="14" hasCustomPrompt="1"/>
          </p:nvPr>
        </p:nvSpPr>
        <p:spPr>
          <a:xfrm>
            <a:off x="6459795" y="2024780"/>
            <a:ext cx="4894006" cy="4137189"/>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657852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838201" y="448056"/>
            <a:ext cx="6172200" cy="1581912"/>
          </a:xfrm>
        </p:spPr>
        <p:txBody>
          <a:bodyPr anchor="b" anchorCtr="0">
            <a:noAutofit/>
          </a:bodyPr>
          <a:lstStyle>
            <a:lvl1pPr>
              <a:defRPr sz="3200"/>
            </a:lvl1pPr>
          </a:lstStyle>
          <a:p>
            <a:r>
              <a:rPr lang="en-US"/>
              <a:t>Click to edit Master title style</a:t>
            </a:r>
            <a:endParaRPr lang="en-US" dirty="0"/>
          </a:p>
        </p:txBody>
      </p:sp>
      <p:sp>
        <p:nvSpPr>
          <p:cNvPr id="4" name="Content Placeholder 10">
            <a:extLst>
              <a:ext uri="{FF2B5EF4-FFF2-40B4-BE49-F238E27FC236}">
                <a16:creationId xmlns:a16="http://schemas.microsoft.com/office/drawing/2014/main" id="{5F30E2A0-23EF-51B1-8ABD-00429EEA0642}"/>
              </a:ext>
            </a:extLst>
          </p:cNvPr>
          <p:cNvSpPr>
            <a:spLocks noGrp="1"/>
          </p:cNvSpPr>
          <p:nvPr>
            <p:ph sz="quarter" idx="14" hasCustomPrompt="1"/>
          </p:nvPr>
        </p:nvSpPr>
        <p:spPr>
          <a:xfrm>
            <a:off x="838200" y="2257063"/>
            <a:ext cx="4894006" cy="3904906"/>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AF15552F-C66B-341F-2D37-0389710BA5E2}"/>
              </a:ext>
            </a:extLst>
          </p:cNvPr>
          <p:cNvSpPr>
            <a:spLocks noGrp="1"/>
          </p:cNvSpPr>
          <p:nvPr>
            <p:ph type="pic" sz="quarter" idx="10"/>
          </p:nvPr>
        </p:nvSpPr>
        <p:spPr>
          <a:xfrm>
            <a:off x="7500938" y="-22225"/>
            <a:ext cx="4714875" cy="6880225"/>
          </a:xfrm>
        </p:spPr>
        <p:txBody>
          <a:bodyPr>
            <a:normAutofit/>
          </a:bodyPr>
          <a:lstStyle>
            <a:lvl1pPr marL="0" indent="0" algn="ctr">
              <a:buNone/>
              <a:defRPr sz="2000"/>
            </a:lvl1pPr>
          </a:lstStyle>
          <a:p>
            <a:r>
              <a:rPr lang="en-US"/>
              <a:t>Click icon to add picture</a:t>
            </a:r>
            <a:endParaRPr lang="en-US" dirty="0"/>
          </a:p>
        </p:txBody>
      </p:sp>
      <p:sp>
        <p:nvSpPr>
          <p:cNvPr id="12" name="Rectangle 11">
            <a:extLst>
              <a:ext uri="{FF2B5EF4-FFF2-40B4-BE49-F238E27FC236}">
                <a16:creationId xmlns:a16="http://schemas.microsoft.com/office/drawing/2014/main" id="{0D8DCC6D-8B88-7BE0-7240-F743AE09EC48}"/>
              </a:ext>
              <a:ext uri="{C183D7F6-B498-43B3-948B-1728B52AA6E4}">
                <adec:decorative xmlns:adec="http://schemas.microsoft.com/office/drawing/2017/decorative" val="1"/>
              </a:ext>
            </a:extLst>
          </p:cNvPr>
          <p:cNvSpPr/>
          <p:nvPr userDrawn="1"/>
        </p:nvSpPr>
        <p:spPr>
          <a:xfrm>
            <a:off x="993814" y="6303963"/>
            <a:ext cx="4287186" cy="554037"/>
          </a:xfrm>
          <a:prstGeom prst="rect">
            <a:avLst/>
          </a:prstGeom>
          <a:gradFill flip="none" rotWithShape="1">
            <a:gsLst>
              <a:gs pos="0">
                <a:schemeClr val="accent5"/>
              </a:gs>
              <a:gs pos="100000">
                <a:schemeClr val="accent2">
                  <a:lumMod val="97000"/>
                  <a:lumOff val="3000"/>
                </a:schemeClr>
              </a:gs>
              <a:gs pos="50000">
                <a:schemeClr val="accent1"/>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454381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563"/>
          </a:xfrm>
        </p:spPr>
        <p:txBody>
          <a:bodyPr anchor="ctr" anchorCtr="0">
            <a:noAutofit/>
          </a:bodyPr>
          <a:lstStyle>
            <a:lvl1pPr algn="ctr">
              <a:defRPr sz="3200"/>
            </a:lvl1pPr>
          </a:lstStyle>
          <a:p>
            <a:r>
              <a:rPr lang="en-US" dirty="0"/>
              <a:t>Click to add title</a:t>
            </a:r>
          </a:p>
        </p:txBody>
      </p:sp>
      <p:sp>
        <p:nvSpPr>
          <p:cNvPr id="4" name="Content Placeholder 10">
            <a:extLst>
              <a:ext uri="{FF2B5EF4-FFF2-40B4-BE49-F238E27FC236}">
                <a16:creationId xmlns:a16="http://schemas.microsoft.com/office/drawing/2014/main" id="{9C3ED3BF-FF6B-07FA-72C4-F6102A8558AF}"/>
              </a:ext>
            </a:extLst>
          </p:cNvPr>
          <p:cNvSpPr>
            <a:spLocks noGrp="1"/>
          </p:cNvSpPr>
          <p:nvPr>
            <p:ph sz="quarter" idx="15" hasCustomPrompt="1"/>
          </p:nvPr>
        </p:nvSpPr>
        <p:spPr>
          <a:xfrm>
            <a:off x="896074" y="2106591"/>
            <a:ext cx="2067045" cy="3633787"/>
          </a:xfrm>
        </p:spPr>
        <p:txBody>
          <a:bodyPr>
            <a:normAutofit/>
          </a:bodyPr>
          <a:lstStyle>
            <a:lvl1pPr marL="0" indent="0">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600">
                <a:latin typeface="+mn-lt"/>
              </a:defRPr>
            </a:lvl2pPr>
            <a:lvl3pPr marL="457200" indent="-228600">
              <a:spcBef>
                <a:spcPts val="1000"/>
              </a:spcBef>
              <a:spcAft>
                <a:spcPts val="1000"/>
              </a:spcAft>
              <a:buClr>
                <a:schemeClr val="accent2"/>
              </a:buClr>
              <a:buFont typeface="Wingdings" panose="05000000000000000000" pitchFamily="2" charset="2"/>
              <a:buChar char="§"/>
              <a:defRPr sz="1400">
                <a:latin typeface="+mn-lt"/>
              </a:defRPr>
            </a:lvl3pPr>
            <a:lvl4pPr marL="685800" indent="-228600">
              <a:spcBef>
                <a:spcPts val="1000"/>
              </a:spcBef>
              <a:spcAft>
                <a:spcPts val="1000"/>
              </a:spcAft>
              <a:buClr>
                <a:schemeClr val="accent2"/>
              </a:buClr>
              <a:buFont typeface="Wingdings" panose="05000000000000000000" pitchFamily="2" charset="2"/>
              <a:buChar char="§"/>
              <a:defRPr sz="1400">
                <a:latin typeface="+mn-lt"/>
              </a:defRPr>
            </a:lvl4pPr>
            <a:lvl5pPr marL="914400" indent="-228600">
              <a:spcBef>
                <a:spcPts val="1000"/>
              </a:spcBef>
              <a:spcAft>
                <a:spcPts val="1000"/>
              </a:spcAft>
              <a:buClr>
                <a:schemeClr val="accent2"/>
              </a:buClr>
              <a:buFont typeface="Wingdings" panose="05000000000000000000" pitchFamily="2" charset="2"/>
              <a:buChar char="§"/>
              <a:defRPr sz="12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423FEB60-8FB5-7F10-EDD7-8AB4B3139EF6}"/>
              </a:ext>
            </a:extLst>
          </p:cNvPr>
          <p:cNvSpPr>
            <a:spLocks noGrp="1"/>
          </p:cNvSpPr>
          <p:nvPr>
            <p:ph type="tbl" sz="quarter" idx="13"/>
          </p:nvPr>
        </p:nvSpPr>
        <p:spPr>
          <a:xfrm>
            <a:off x="3483980" y="2106591"/>
            <a:ext cx="7869820" cy="4016713"/>
          </a:xfrm>
        </p:spPr>
        <p:txBody>
          <a:bodyPr/>
          <a:lstStyle/>
          <a:p>
            <a:r>
              <a:rPr lang="en-US"/>
              <a:t>Click icon to add table</a:t>
            </a: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280815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hasCustomPrompt="1"/>
          </p:nvPr>
        </p:nvSpPr>
        <p:spPr>
          <a:xfrm>
            <a:off x="838200" y="365760"/>
            <a:ext cx="10515600" cy="1325563"/>
          </a:xfrm>
        </p:spPr>
        <p:txBody>
          <a:bodyPr anchor="ctr" anchorCtr="0">
            <a:noAutofit/>
          </a:bodyPr>
          <a:lstStyle>
            <a:lvl1pPr algn="ctr">
              <a:defRPr sz="3200"/>
            </a:lvl1pPr>
          </a:lstStyle>
          <a:p>
            <a:r>
              <a:rPr lang="en-US" dirty="0"/>
              <a:t>Click to add title</a:t>
            </a:r>
          </a:p>
        </p:txBody>
      </p:sp>
      <p:sp>
        <p:nvSpPr>
          <p:cNvPr id="8" name="Content Placeholder 10">
            <a:extLst>
              <a:ext uri="{FF2B5EF4-FFF2-40B4-BE49-F238E27FC236}">
                <a16:creationId xmlns:a16="http://schemas.microsoft.com/office/drawing/2014/main" id="{A524C1E0-92FE-D7D2-83A7-46D29A838874}"/>
              </a:ext>
            </a:extLst>
          </p:cNvPr>
          <p:cNvSpPr>
            <a:spLocks noGrp="1"/>
          </p:cNvSpPr>
          <p:nvPr>
            <p:ph sz="quarter" idx="15" hasCustomPrompt="1"/>
          </p:nvPr>
        </p:nvSpPr>
        <p:spPr>
          <a:xfrm>
            <a:off x="838200" y="1790329"/>
            <a:ext cx="5134335" cy="4113054"/>
          </a:xfrm>
        </p:spPr>
        <p:txBody>
          <a:bodyPr>
            <a:normAutofit/>
          </a:bodyPr>
          <a:lstStyle>
            <a:lvl1pPr marL="0" indent="0">
              <a:lnSpc>
                <a:spcPct val="150000"/>
              </a:lnSpc>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427E0367-8E38-8905-DC9A-D0C376A591A7}"/>
              </a:ext>
            </a:extLst>
          </p:cNvPr>
          <p:cNvSpPr>
            <a:spLocks noGrp="1"/>
          </p:cNvSpPr>
          <p:nvPr>
            <p:ph sz="quarter" idx="16" hasCustomPrompt="1"/>
          </p:nvPr>
        </p:nvSpPr>
        <p:spPr>
          <a:xfrm>
            <a:off x="6219464" y="1790329"/>
            <a:ext cx="5134335" cy="4113054"/>
          </a:xfrm>
        </p:spPr>
        <p:txBody>
          <a:bodyPr>
            <a:normAutofit/>
          </a:bodyPr>
          <a:lstStyle>
            <a:lvl1pPr marL="0" indent="0">
              <a:lnSpc>
                <a:spcPct val="150000"/>
              </a:lnSpc>
              <a:spcBef>
                <a:spcPts val="1000"/>
              </a:spcBef>
              <a:spcAft>
                <a:spcPts val="0"/>
              </a:spcAft>
              <a:buClr>
                <a:schemeClr val="accent2"/>
              </a:buClr>
              <a:buFont typeface="Wingdings" panose="05000000000000000000" pitchFamily="2" charset="2"/>
              <a:buNone/>
              <a:defRPr sz="1800">
                <a:latin typeface="+mn-lt"/>
              </a:defRPr>
            </a:lvl1pPr>
            <a:lvl2pPr marL="0" indent="-228600">
              <a:spcBef>
                <a:spcPts val="1000"/>
              </a:spcBef>
              <a:spcAft>
                <a:spcPts val="1000"/>
              </a:spcAft>
              <a:buClr>
                <a:schemeClr val="accent2"/>
              </a:buClr>
              <a:buFont typeface="Wingdings" panose="05000000000000000000" pitchFamily="2" charset="2"/>
              <a:buChar char="§"/>
              <a:defRPr sz="1800">
                <a:latin typeface="+mn-lt"/>
              </a:defRPr>
            </a:lvl2pPr>
            <a:lvl3pPr marL="457200" indent="-228600">
              <a:spcBef>
                <a:spcPts val="1000"/>
              </a:spcBef>
              <a:spcAft>
                <a:spcPts val="1000"/>
              </a:spcAft>
              <a:buClr>
                <a:schemeClr val="accent2"/>
              </a:buClr>
              <a:buFont typeface="Wingdings" panose="05000000000000000000" pitchFamily="2" charset="2"/>
              <a:buChar char="§"/>
              <a:defRPr sz="1800">
                <a:latin typeface="+mn-lt"/>
              </a:defRPr>
            </a:lvl3pPr>
            <a:lvl4pPr marL="685800" indent="-228600">
              <a:spcBef>
                <a:spcPts val="1000"/>
              </a:spcBef>
              <a:spcAft>
                <a:spcPts val="1000"/>
              </a:spcAft>
              <a:buClr>
                <a:schemeClr val="accent2"/>
              </a:buClr>
              <a:buFont typeface="Wingdings" panose="05000000000000000000" pitchFamily="2" charset="2"/>
              <a:buChar char="§"/>
              <a:defRPr sz="1800">
                <a:latin typeface="+mn-lt"/>
              </a:defRPr>
            </a:lvl4pPr>
            <a:lvl5pPr marL="914400" indent="-228600">
              <a:spcBef>
                <a:spcPts val="1000"/>
              </a:spcBef>
              <a:spcAft>
                <a:spcPts val="1000"/>
              </a:spcAft>
              <a:buClr>
                <a:schemeClr val="accent2"/>
              </a:buClr>
              <a:buFont typeface="Wingdings" panose="05000000000000000000" pitchFamily="2" charset="2"/>
              <a:buChar char="§"/>
              <a:defRPr sz="18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Rectangle 9">
            <a:extLst>
              <a:ext uri="{FF2B5EF4-FFF2-40B4-BE49-F238E27FC236}">
                <a16:creationId xmlns:a16="http://schemas.microsoft.com/office/drawing/2014/main" id="{43D847DE-29F2-8ABB-1718-34BED4F37718}"/>
              </a:ext>
              <a:ext uri="{C183D7F6-B498-43B3-948B-1728B52AA6E4}">
                <adec:decorative xmlns:adec="http://schemas.microsoft.com/office/drawing/2017/decorative" val="1"/>
              </a:ext>
            </a:extLst>
          </p:cNvPr>
          <p:cNvSpPr/>
          <p:nvPr userDrawn="1"/>
        </p:nvSpPr>
        <p:spPr>
          <a:xfrm>
            <a:off x="0" y="6303963"/>
            <a:ext cx="12192000" cy="554037"/>
          </a:xfrm>
          <a:prstGeom prst="rect">
            <a:avLst/>
          </a:prstGeom>
          <a:gradFill flip="none" rotWithShape="1">
            <a:gsLst>
              <a:gs pos="0">
                <a:schemeClr val="accent5"/>
              </a:gs>
              <a:gs pos="100000">
                <a:schemeClr val="accent2">
                  <a:lumMod val="97000"/>
                  <a:lumOff val="3000"/>
                </a:schemeClr>
              </a:gs>
              <a:gs pos="50000">
                <a:schemeClr val="accent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137703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p:txBody>
          <a:bodyPr anchor="ctr" anchorCtr="0">
            <a:noAutofit/>
          </a:bodyPr>
          <a:lstStyle>
            <a:lvl1pPr algn="ctr">
              <a:defRPr sz="3200"/>
            </a:lvl1pPr>
          </a:lstStyle>
          <a:p>
            <a:r>
              <a:rPr lang="en-US" dirty="0"/>
              <a:t>Click to add title</a:t>
            </a:r>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613186" y="2107800"/>
            <a:ext cx="10965628" cy="3920196"/>
          </a:xfrm>
        </p:spPr>
        <p:txBody>
          <a:bodyPr/>
          <a:lstStyle>
            <a:lvl1pPr>
              <a:defRPr/>
            </a:lvl1pPr>
          </a:lstStyle>
          <a:p>
            <a:r>
              <a:rPr lang="en-US"/>
              <a:t>Click icon to add table</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fld id="{D6D8061D-18C3-4F4F-85EF-561633F58754}" type="datetimeFigureOut">
              <a:rPr lang="en-US" smtClean="0"/>
              <a:t>4/27/2026</a:t>
            </a:fld>
            <a:endParaRPr lang="en-US"/>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a:p>
        </p:txBody>
      </p:sp>
    </p:spTree>
    <p:extLst>
      <p:ext uri="{BB962C8B-B14F-4D97-AF65-F5344CB8AC3E}">
        <p14:creationId xmlns:p14="http://schemas.microsoft.com/office/powerpoint/2010/main" val="26260992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76EE6F3F-63EB-5C0E-2307-3B7CBBA1C374}"/>
              </a:ext>
            </a:extLst>
          </p:cNvPr>
          <p:cNvSpPr>
            <a:spLocks noGrp="1"/>
          </p:cNvSpPr>
          <p:nvPr>
            <p:ph type="pic" sz="quarter" idx="11"/>
          </p:nvPr>
        </p:nvSpPr>
        <p:spPr>
          <a:xfrm>
            <a:off x="0" y="0"/>
            <a:ext cx="12192000" cy="6858000"/>
          </a:xfrm>
          <a:solidFill>
            <a:schemeClr val="tx1"/>
          </a:solidFill>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hasCustomPrompt="1"/>
          </p:nvPr>
        </p:nvSpPr>
        <p:spPr>
          <a:xfrm>
            <a:off x="1362437" y="400485"/>
            <a:ext cx="9467127" cy="2527911"/>
          </a:xfrm>
        </p:spPr>
        <p:txBody>
          <a:bodyPr anchor="b">
            <a:noAutofit/>
          </a:bodyPr>
          <a:lstStyle>
            <a:lvl1pPr algn="ctr">
              <a:spcBef>
                <a:spcPts val="1000"/>
              </a:spcBef>
              <a:defRPr>
                <a:solidFill>
                  <a:schemeClr val="bg1"/>
                </a:solidFill>
              </a:defRPr>
            </a:lvl1pPr>
          </a:lstStyle>
          <a:p>
            <a:r>
              <a:rPr lang="en-US" dirty="0"/>
              <a:t>Click to add title</a:t>
            </a:r>
          </a:p>
        </p:txBody>
      </p:sp>
      <p:sp>
        <p:nvSpPr>
          <p:cNvPr id="10" name="Text Placeholder 9">
            <a:extLst>
              <a:ext uri="{FF2B5EF4-FFF2-40B4-BE49-F238E27FC236}">
                <a16:creationId xmlns:a16="http://schemas.microsoft.com/office/drawing/2014/main" id="{E12DA517-30B0-BC62-0422-F995FB9189E2}"/>
              </a:ext>
            </a:extLst>
          </p:cNvPr>
          <p:cNvSpPr>
            <a:spLocks noGrp="1"/>
          </p:cNvSpPr>
          <p:nvPr>
            <p:ph type="body" sz="quarter" idx="10" hasCustomPrompt="1"/>
          </p:nvPr>
        </p:nvSpPr>
        <p:spPr>
          <a:xfrm>
            <a:off x="1362075" y="3738622"/>
            <a:ext cx="9467850" cy="2527911"/>
          </a:xfrm>
        </p:spPr>
        <p:txBody>
          <a:bodyPr>
            <a:normAutofit/>
          </a:bodyPr>
          <a:lstStyle>
            <a:lvl1pPr marL="0" indent="0" algn="ctr">
              <a:spcBef>
                <a:spcPts val="1000"/>
              </a:spcBef>
              <a:buNone/>
              <a:defRPr sz="1800">
                <a:solidFill>
                  <a:schemeClr val="bg1"/>
                </a:solidFill>
              </a:defRPr>
            </a:lvl1pPr>
            <a:lvl2pPr marL="457200" indent="0" algn="ctr">
              <a:spcBef>
                <a:spcPts val="1000"/>
              </a:spcBef>
              <a:buNone/>
              <a:defRPr sz="1800">
                <a:solidFill>
                  <a:schemeClr val="bg1"/>
                </a:solidFill>
              </a:defRPr>
            </a:lvl2pPr>
            <a:lvl3pPr marL="914400" indent="0" algn="ctr">
              <a:spcBef>
                <a:spcPts val="1000"/>
              </a:spcBef>
              <a:buNone/>
              <a:defRPr sz="1800">
                <a:solidFill>
                  <a:schemeClr val="bg1"/>
                </a:solidFill>
              </a:defRPr>
            </a:lvl3pPr>
            <a:lvl4pPr marL="1371600" indent="0" algn="ctr">
              <a:spcBef>
                <a:spcPts val="1000"/>
              </a:spcBef>
              <a:buNone/>
              <a:defRPr sz="1800">
                <a:solidFill>
                  <a:schemeClr val="bg1"/>
                </a:solidFill>
              </a:defRPr>
            </a:lvl4pPr>
            <a:lvl5pPr marL="1828800" indent="0" algn="ctr">
              <a:spcBef>
                <a:spcPts val="1000"/>
              </a:spcBef>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21629670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29000">
              <a:schemeClr val="accent5">
                <a:lumMod val="67000"/>
              </a:schemeClr>
            </a:gs>
            <a:gs pos="40000">
              <a:schemeClr val="accent5">
                <a:lumMod val="97000"/>
                <a:lumOff val="3000"/>
              </a:schemeClr>
            </a:gs>
            <a:gs pos="74000">
              <a:schemeClr val="bg2">
                <a:lumMod val="1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D97564-C310-6E8C-8689-CE18881B4A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FAD99FA-26D9-873B-BE7F-26FEC5C233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319819E-0266-97DD-DFD1-BAAA06AE323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D8061D-18C3-4F4F-85EF-561633F58754}" type="datetimeFigureOut">
              <a:rPr lang="en-US" smtClean="0"/>
              <a:t>4/27/2026</a:t>
            </a:fld>
            <a:endParaRPr lang="en-US"/>
          </a:p>
        </p:txBody>
      </p:sp>
      <p:sp>
        <p:nvSpPr>
          <p:cNvPr id="5" name="Footer Placeholder 4">
            <a:extLst>
              <a:ext uri="{FF2B5EF4-FFF2-40B4-BE49-F238E27FC236}">
                <a16:creationId xmlns:a16="http://schemas.microsoft.com/office/drawing/2014/main" id="{2BFD19C9-01CE-9E2A-CDA5-C15940F055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1801085-7B28-048D-E3D3-9C3614268D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D12358-51D2-46B3-9BDE-DF29528B9454}" type="slidenum">
              <a:rPr lang="en-US" smtClean="0"/>
              <a:t>‹#›</a:t>
            </a:fld>
            <a:endParaRPr lang="en-US"/>
          </a:p>
        </p:txBody>
      </p:sp>
    </p:spTree>
    <p:extLst>
      <p:ext uri="{BB962C8B-B14F-4D97-AF65-F5344CB8AC3E}">
        <p14:creationId xmlns:p14="http://schemas.microsoft.com/office/powerpoint/2010/main" val="1965934658"/>
      </p:ext>
    </p:extLst>
  </p:cSld>
  <p:clrMap bg1="lt1" tx1="dk1" bg2="lt2" tx2="dk2" accent1="accent1" accent2="accent2" accent3="accent3" accent4="accent4" accent5="accent5" accent6="accent6" hlink="hlink" folHlink="folHlink"/>
  <p:sldLayoutIdLst>
    <p:sldLayoutId id="2147483654" r:id="rId1"/>
    <p:sldLayoutId id="2147483660" r:id="rId2"/>
    <p:sldLayoutId id="2147483659" r:id="rId3"/>
    <p:sldLayoutId id="2147483650" r:id="rId4"/>
    <p:sldLayoutId id="2147483649" r:id="rId5"/>
    <p:sldLayoutId id="2147483662" r:id="rId6"/>
    <p:sldLayoutId id="2147483663" r:id="rId7"/>
    <p:sldLayoutId id="2147483652" r:id="rId8"/>
    <p:sldLayoutId id="2147483666" r:id="rId9"/>
    <p:sldLayoutId id="2147483664" r:id="rId10"/>
    <p:sldLayoutId id="2147483665" r:id="rId11"/>
    <p:sldLayoutId id="2147483661" r:id="rId12"/>
  </p:sldLayoutIdLst>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20A922B-22EC-7FD8-FA8C-2FFAC558BD66}"/>
              </a:ext>
            </a:extLst>
          </p:cNvPr>
          <p:cNvSpPr>
            <a:spLocks noGrp="1"/>
          </p:cNvSpPr>
          <p:nvPr>
            <p:ph type="ctrTitle"/>
          </p:nvPr>
        </p:nvSpPr>
        <p:spPr>
          <a:xfrm>
            <a:off x="0" y="3253410"/>
            <a:ext cx="11642035" cy="2286000"/>
          </a:xfrm>
        </p:spPr>
        <p:txBody>
          <a:bodyPr/>
          <a:lstStyle/>
          <a:p>
            <a:r>
              <a:rPr lang="en-US" sz="3600" b="1" dirty="0"/>
              <a:t>Cuda Accelerated implementation of Traveling Salesman Problem using Genetic Algorithms (TSP-GA)</a:t>
            </a:r>
            <a:br>
              <a:rPr lang="en-US" dirty="0"/>
            </a:br>
            <a:endParaRPr lang="en-US" dirty="0"/>
          </a:p>
        </p:txBody>
      </p:sp>
      <p:pic>
        <p:nvPicPr>
          <p:cNvPr id="7" name="Picture 6">
            <a:extLst>
              <a:ext uri="{FF2B5EF4-FFF2-40B4-BE49-F238E27FC236}">
                <a16:creationId xmlns:a16="http://schemas.microsoft.com/office/drawing/2014/main" id="{32827A84-570F-87BA-9138-BE2919CE37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9449" y="481702"/>
            <a:ext cx="2556359" cy="2556359"/>
          </a:xfrm>
          <a:prstGeom prst="rect">
            <a:avLst/>
          </a:prstGeom>
        </p:spPr>
      </p:pic>
      <p:sp>
        <p:nvSpPr>
          <p:cNvPr id="8" name="TextBox 7">
            <a:extLst>
              <a:ext uri="{FF2B5EF4-FFF2-40B4-BE49-F238E27FC236}">
                <a16:creationId xmlns:a16="http://schemas.microsoft.com/office/drawing/2014/main" id="{3F0DB6CC-5D58-E05B-7310-7179F2CE542A}"/>
              </a:ext>
            </a:extLst>
          </p:cNvPr>
          <p:cNvSpPr txBox="1"/>
          <p:nvPr/>
        </p:nvSpPr>
        <p:spPr>
          <a:xfrm>
            <a:off x="1113183" y="5267739"/>
            <a:ext cx="1895060" cy="369332"/>
          </a:xfrm>
          <a:prstGeom prst="rect">
            <a:avLst/>
          </a:prstGeom>
          <a:noFill/>
        </p:spPr>
        <p:txBody>
          <a:bodyPr wrap="square" rtlCol="0">
            <a:spAutoFit/>
          </a:bodyPr>
          <a:lstStyle/>
          <a:p>
            <a:r>
              <a:rPr lang="en-US" dirty="0"/>
              <a:t>Chris</a:t>
            </a:r>
          </a:p>
        </p:txBody>
      </p:sp>
      <p:sp>
        <p:nvSpPr>
          <p:cNvPr id="9" name="Title 5">
            <a:extLst>
              <a:ext uri="{FF2B5EF4-FFF2-40B4-BE49-F238E27FC236}">
                <a16:creationId xmlns:a16="http://schemas.microsoft.com/office/drawing/2014/main" id="{28F358E4-FF06-4252-695F-741C8564DEB0}"/>
              </a:ext>
            </a:extLst>
          </p:cNvPr>
          <p:cNvSpPr txBox="1">
            <a:spLocks/>
          </p:cNvSpPr>
          <p:nvPr/>
        </p:nvSpPr>
        <p:spPr>
          <a:xfrm>
            <a:off x="662610" y="5145475"/>
            <a:ext cx="6268278" cy="1230823"/>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4800" kern="1200" cap="all" spc="300" baseline="0">
                <a:solidFill>
                  <a:schemeClr val="bg1"/>
                </a:solidFill>
                <a:latin typeface="+mj-lt"/>
                <a:ea typeface="+mj-ea"/>
                <a:cs typeface="+mj-cs"/>
              </a:defRPr>
            </a:lvl1pPr>
          </a:lstStyle>
          <a:p>
            <a:r>
              <a:rPr lang="en-US" sz="2000" b="1" dirty="0"/>
              <a:t>Chris Rumsey</a:t>
            </a:r>
          </a:p>
          <a:p>
            <a:r>
              <a:rPr lang="en-US" sz="2000" b="1" dirty="0"/>
              <a:t>rumsey@Arizona.edu</a:t>
            </a:r>
            <a:br>
              <a:rPr lang="en-US" sz="3200" dirty="0"/>
            </a:br>
            <a:endParaRPr lang="en-US" sz="3200" dirty="0"/>
          </a:p>
        </p:txBody>
      </p:sp>
      <p:sp>
        <p:nvSpPr>
          <p:cNvPr id="10" name="Title 5">
            <a:extLst>
              <a:ext uri="{FF2B5EF4-FFF2-40B4-BE49-F238E27FC236}">
                <a16:creationId xmlns:a16="http://schemas.microsoft.com/office/drawing/2014/main" id="{FE985EF0-3F6F-8485-8150-ACA01DA088DD}"/>
              </a:ext>
            </a:extLst>
          </p:cNvPr>
          <p:cNvSpPr txBox="1">
            <a:spLocks/>
          </p:cNvSpPr>
          <p:nvPr/>
        </p:nvSpPr>
        <p:spPr>
          <a:xfrm>
            <a:off x="5373757" y="5139347"/>
            <a:ext cx="6268278" cy="1230823"/>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4800" kern="1200" cap="all" spc="300" baseline="0">
                <a:solidFill>
                  <a:schemeClr val="bg1"/>
                </a:solidFill>
                <a:latin typeface="+mj-lt"/>
                <a:ea typeface="+mj-ea"/>
                <a:cs typeface="+mj-cs"/>
              </a:defRPr>
            </a:lvl1pPr>
          </a:lstStyle>
          <a:p>
            <a:r>
              <a:rPr lang="en-US" sz="2000" b="1" dirty="0"/>
              <a:t>Joel Maldonado</a:t>
            </a:r>
          </a:p>
          <a:p>
            <a:r>
              <a:rPr lang="en-US" sz="2000" b="1" dirty="0"/>
              <a:t>Joelmaldonado@arizona.edu</a:t>
            </a:r>
          </a:p>
          <a:p>
            <a:endParaRPr lang="en-US" sz="3200" dirty="0"/>
          </a:p>
        </p:txBody>
      </p:sp>
    </p:spTree>
    <p:extLst>
      <p:ext uri="{BB962C8B-B14F-4D97-AF65-F5344CB8AC3E}">
        <p14:creationId xmlns:p14="http://schemas.microsoft.com/office/powerpoint/2010/main" val="639264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042E2B-7D38-CB3D-C65A-A02952115E6D}"/>
              </a:ext>
            </a:extLst>
          </p:cNvPr>
          <p:cNvSpPr>
            <a:spLocks noGrp="1"/>
          </p:cNvSpPr>
          <p:nvPr>
            <p:ph type="title"/>
          </p:nvPr>
        </p:nvSpPr>
        <p:spPr>
          <a:xfrm>
            <a:off x="238539" y="400486"/>
            <a:ext cx="10591025" cy="1203028"/>
          </a:xfrm>
        </p:spPr>
        <p:txBody>
          <a:bodyPr/>
          <a:lstStyle/>
          <a:p>
            <a:r>
              <a:rPr lang="en-US" dirty="0"/>
              <a:t>ABSTRACT</a:t>
            </a:r>
          </a:p>
        </p:txBody>
      </p:sp>
      <p:sp>
        <p:nvSpPr>
          <p:cNvPr id="9" name="TextBox 8">
            <a:extLst>
              <a:ext uri="{FF2B5EF4-FFF2-40B4-BE49-F238E27FC236}">
                <a16:creationId xmlns:a16="http://schemas.microsoft.com/office/drawing/2014/main" id="{6D7C1537-857C-9375-5C26-C703E4EE9DFA}"/>
              </a:ext>
            </a:extLst>
          </p:cNvPr>
          <p:cNvSpPr txBox="1"/>
          <p:nvPr/>
        </p:nvSpPr>
        <p:spPr>
          <a:xfrm>
            <a:off x="417443" y="1855304"/>
            <a:ext cx="11178209" cy="3046988"/>
          </a:xfrm>
          <a:prstGeom prst="rect">
            <a:avLst/>
          </a:prstGeom>
          <a:noFill/>
        </p:spPr>
        <p:txBody>
          <a:bodyPr wrap="square" rtlCol="0">
            <a:spAutoFit/>
          </a:bodyPr>
          <a:lstStyle/>
          <a:p>
            <a:r>
              <a:rPr lang="en-US" sz="2400" dirty="0">
                <a:solidFill>
                  <a:schemeClr val="bg1"/>
                </a:solidFill>
              </a:rPr>
              <a:t>This project explores GPU-accelerated approaches to solving the Traveling Salesman Problem, a classic optimization challenge where the goal is to find the shortest possible route through a set of cities. Starting from a Python baseline, the project builds and compares a sequential C genetic algorithm, a naive CUDA implementation, and more advanced CUDA genetic algorithm variants.  Numerous approaches to optimizes the CUDA implementation, with specific focus on the tour length calculation were explored.  The main focus is understanding how GPU parallelism, memory layout, and reduced CPU-GPU communication can improve performance while preserving solution quality.</a:t>
            </a:r>
          </a:p>
        </p:txBody>
      </p:sp>
    </p:spTree>
    <p:extLst>
      <p:ext uri="{BB962C8B-B14F-4D97-AF65-F5344CB8AC3E}">
        <p14:creationId xmlns:p14="http://schemas.microsoft.com/office/powerpoint/2010/main" val="964646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C1295-924C-D6AB-F020-56CD9076462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4EA667D-6509-892C-CE2A-EEF693B3E12A}"/>
              </a:ext>
            </a:extLst>
          </p:cNvPr>
          <p:cNvSpPr>
            <a:spLocks noGrp="1"/>
          </p:cNvSpPr>
          <p:nvPr>
            <p:ph type="title"/>
          </p:nvPr>
        </p:nvSpPr>
        <p:spPr>
          <a:xfrm>
            <a:off x="238539" y="400486"/>
            <a:ext cx="11357113" cy="1203028"/>
          </a:xfrm>
        </p:spPr>
        <p:txBody>
          <a:bodyPr/>
          <a:lstStyle/>
          <a:p>
            <a:r>
              <a:rPr lang="en-US" dirty="0"/>
              <a:t>Background – Traveling salesman</a:t>
            </a:r>
          </a:p>
        </p:txBody>
      </p:sp>
      <p:sp>
        <p:nvSpPr>
          <p:cNvPr id="9" name="TextBox 8">
            <a:extLst>
              <a:ext uri="{FF2B5EF4-FFF2-40B4-BE49-F238E27FC236}">
                <a16:creationId xmlns:a16="http://schemas.microsoft.com/office/drawing/2014/main" id="{4CE9C7A5-D655-CF6A-5B33-6CD254E45756}"/>
              </a:ext>
            </a:extLst>
          </p:cNvPr>
          <p:cNvSpPr txBox="1"/>
          <p:nvPr/>
        </p:nvSpPr>
        <p:spPr>
          <a:xfrm>
            <a:off x="417443" y="1855304"/>
            <a:ext cx="11178209" cy="3693319"/>
          </a:xfrm>
          <a:prstGeom prst="rect">
            <a:avLst/>
          </a:prstGeom>
          <a:noFill/>
        </p:spPr>
        <p:txBody>
          <a:bodyPr wrap="square" rtlCol="0">
            <a:spAutoFit/>
          </a:bodyPr>
          <a:lstStyle/>
          <a:p>
            <a:r>
              <a:rPr lang="en-US" dirty="0">
                <a:solidFill>
                  <a:schemeClr val="bg1"/>
                </a:solidFill>
              </a:rPr>
              <a:t>Traveling salesman is a canonical NP hard problem in computer science, attempting to find a Hamiltonian circuit in an undirected digraph.  This is to say find The that minimizes path length. This is a tour </a:t>
            </a:r>
            <a:r>
              <a:rPr lang="en-US" dirty="0" err="1">
                <a:solidFill>
                  <a:schemeClr val="bg1"/>
                </a:solidFill>
              </a:rPr>
              <a:t>tour</a:t>
            </a:r>
            <a:r>
              <a:rPr lang="en-US" dirty="0">
                <a:solidFill>
                  <a:schemeClr val="bg1"/>
                </a:solidFill>
              </a:rPr>
              <a:t> that visits each node exactly once starting and finishing in the same place  and minimizes the distance traveled.</a:t>
            </a:r>
          </a:p>
          <a:p>
            <a:endParaRPr lang="en-US" dirty="0">
              <a:solidFill>
                <a:schemeClr val="bg1"/>
              </a:solidFill>
            </a:endParaRPr>
          </a:p>
          <a:p>
            <a:r>
              <a:rPr lang="en-US" dirty="0">
                <a:solidFill>
                  <a:schemeClr val="bg1"/>
                </a:solidFill>
              </a:rPr>
              <a:t>While humans are intrinsically good at finding</a:t>
            </a:r>
          </a:p>
          <a:p>
            <a:r>
              <a:rPr lang="en-US" dirty="0">
                <a:solidFill>
                  <a:schemeClr val="bg1"/>
                </a:solidFill>
              </a:rPr>
              <a:t>solutions to this problem, the combinatorial</a:t>
            </a:r>
          </a:p>
          <a:p>
            <a:r>
              <a:rPr lang="en-US" dirty="0">
                <a:solidFill>
                  <a:schemeClr val="bg1"/>
                </a:solidFill>
              </a:rPr>
              <a:t>explosion of city combinations means that a</a:t>
            </a:r>
          </a:p>
          <a:p>
            <a:r>
              <a:rPr lang="en-US" dirty="0">
                <a:solidFill>
                  <a:schemeClr val="bg1"/>
                </a:solidFill>
              </a:rPr>
              <a:t>computer algorithm will struggle find good results.</a:t>
            </a:r>
          </a:p>
          <a:p>
            <a:endParaRPr lang="en-US" dirty="0">
              <a:solidFill>
                <a:schemeClr val="bg1"/>
              </a:solidFill>
            </a:endParaRPr>
          </a:p>
          <a:p>
            <a:r>
              <a:rPr lang="en-US" dirty="0">
                <a:solidFill>
                  <a:schemeClr val="bg1"/>
                </a:solidFill>
              </a:rPr>
              <a:t>However, applicable to CUDA, the problem is </a:t>
            </a:r>
          </a:p>
          <a:p>
            <a:r>
              <a:rPr lang="en-US" dirty="0" err="1">
                <a:solidFill>
                  <a:schemeClr val="bg1"/>
                </a:solidFill>
              </a:rPr>
              <a:t>Embarassingly</a:t>
            </a:r>
            <a:r>
              <a:rPr lang="en-US" dirty="0">
                <a:solidFill>
                  <a:schemeClr val="bg1"/>
                </a:solidFill>
              </a:rPr>
              <a:t> Parallelizable.  Even with this trait</a:t>
            </a:r>
            <a:br>
              <a:rPr lang="en-US" dirty="0">
                <a:solidFill>
                  <a:schemeClr val="bg1"/>
                </a:solidFill>
              </a:rPr>
            </a:br>
            <a:r>
              <a:rPr lang="en-US" dirty="0">
                <a:solidFill>
                  <a:schemeClr val="bg1"/>
                </a:solidFill>
              </a:rPr>
              <a:t>the sheer magnitude of the issue means that </a:t>
            </a:r>
          </a:p>
          <a:p>
            <a:r>
              <a:rPr lang="en-US" dirty="0">
                <a:solidFill>
                  <a:schemeClr val="bg1"/>
                </a:solidFill>
              </a:rPr>
              <a:t>some more advanced technique is needed.</a:t>
            </a:r>
          </a:p>
        </p:txBody>
      </p:sp>
      <p:pic>
        <p:nvPicPr>
          <p:cNvPr id="1028" name="Picture 4">
            <a:extLst>
              <a:ext uri="{FF2B5EF4-FFF2-40B4-BE49-F238E27FC236}">
                <a16:creationId xmlns:a16="http://schemas.microsoft.com/office/drawing/2014/main" id="{AF4DA40A-5135-90BA-4CBB-34ACB9258E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735" y="3012737"/>
            <a:ext cx="6400917" cy="33668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39680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2DDF5-AFC6-DBA5-7515-528461207C3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50AD5E-0BEF-B19E-13EE-8A01F8084496}"/>
              </a:ext>
            </a:extLst>
          </p:cNvPr>
          <p:cNvSpPr>
            <a:spLocks noGrp="1"/>
          </p:cNvSpPr>
          <p:nvPr>
            <p:ph type="title"/>
          </p:nvPr>
        </p:nvSpPr>
        <p:spPr>
          <a:xfrm>
            <a:off x="238539" y="400486"/>
            <a:ext cx="10591025" cy="1203028"/>
          </a:xfrm>
        </p:spPr>
        <p:txBody>
          <a:bodyPr/>
          <a:lstStyle/>
          <a:p>
            <a:r>
              <a:rPr lang="en-US" dirty="0"/>
              <a:t>Background-genetic algorithms</a:t>
            </a:r>
          </a:p>
        </p:txBody>
      </p:sp>
      <p:sp>
        <p:nvSpPr>
          <p:cNvPr id="9" name="TextBox 8">
            <a:extLst>
              <a:ext uri="{FF2B5EF4-FFF2-40B4-BE49-F238E27FC236}">
                <a16:creationId xmlns:a16="http://schemas.microsoft.com/office/drawing/2014/main" id="{915CFCC4-810F-FA2D-F259-1D8446AB14F4}"/>
              </a:ext>
            </a:extLst>
          </p:cNvPr>
          <p:cNvSpPr txBox="1"/>
          <p:nvPr/>
        </p:nvSpPr>
        <p:spPr>
          <a:xfrm>
            <a:off x="417443" y="1855304"/>
            <a:ext cx="11178209" cy="3970318"/>
          </a:xfrm>
          <a:prstGeom prst="rect">
            <a:avLst/>
          </a:prstGeom>
          <a:noFill/>
        </p:spPr>
        <p:txBody>
          <a:bodyPr wrap="square" rtlCol="0">
            <a:spAutoFit/>
          </a:bodyPr>
          <a:lstStyle/>
          <a:p>
            <a:r>
              <a:rPr lang="en-US" dirty="0" err="1">
                <a:solidFill>
                  <a:schemeClr val="bg1"/>
                </a:solidFill>
              </a:rPr>
              <a:t>Genentic</a:t>
            </a:r>
            <a:r>
              <a:rPr lang="en-US" dirty="0">
                <a:solidFill>
                  <a:schemeClr val="bg1"/>
                </a:solidFill>
              </a:rPr>
              <a:t> algorithms imitate biology in computation and it is usually used for hard problems that have some structure that can be exploited.  It encodes solutions of a problem as Genes.</a:t>
            </a:r>
          </a:p>
          <a:p>
            <a:r>
              <a:rPr lang="en-US" dirty="0">
                <a:solidFill>
                  <a:schemeClr val="bg1"/>
                </a:solidFill>
              </a:rPr>
              <a:t>A population of genes is initialized. Usually randomly.</a:t>
            </a:r>
          </a:p>
          <a:p>
            <a:r>
              <a:rPr lang="en-US" dirty="0">
                <a:solidFill>
                  <a:schemeClr val="bg1"/>
                </a:solidFill>
              </a:rPr>
              <a:t>Then these Genes are mutated and crossed/mixed according to different </a:t>
            </a:r>
            <a:r>
              <a:rPr lang="en-US" dirty="0" err="1">
                <a:solidFill>
                  <a:schemeClr val="bg1"/>
                </a:solidFill>
              </a:rPr>
              <a:t>heurisitics</a:t>
            </a:r>
            <a:r>
              <a:rPr lang="en-US" dirty="0">
                <a:solidFill>
                  <a:schemeClr val="bg1"/>
                </a:solidFill>
              </a:rPr>
              <a:t>.</a:t>
            </a:r>
          </a:p>
          <a:p>
            <a:r>
              <a:rPr lang="en-US" dirty="0">
                <a:solidFill>
                  <a:schemeClr val="bg1"/>
                </a:solidFill>
              </a:rPr>
              <a:t>Then a  reduction/Natural selection phase comes in where genes are </a:t>
            </a:r>
          </a:p>
          <a:p>
            <a:r>
              <a:rPr lang="en-US" dirty="0">
                <a:solidFill>
                  <a:schemeClr val="bg1"/>
                </a:solidFill>
              </a:rPr>
              <a:t>Evaluated and best genes are picked.</a:t>
            </a:r>
          </a:p>
          <a:p>
            <a:endParaRPr lang="en-US" dirty="0">
              <a:solidFill>
                <a:schemeClr val="bg1"/>
              </a:solidFill>
            </a:endParaRPr>
          </a:p>
          <a:p>
            <a:r>
              <a:rPr lang="en-US" dirty="0">
                <a:solidFill>
                  <a:schemeClr val="bg1"/>
                </a:solidFill>
              </a:rPr>
              <a:t>These selection of Genes is then used as seeds for the next generation  and algorithm repeats.</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r>
              <a:rPr lang="en-US" dirty="0">
                <a:solidFill>
                  <a:schemeClr val="bg1"/>
                </a:solidFill>
              </a:rPr>
              <a:t> In our case we encode as the genes: solutions/torus of the traveling salesman problem.</a:t>
            </a:r>
          </a:p>
          <a:p>
            <a:endParaRPr lang="en-US" dirty="0">
              <a:solidFill>
                <a:schemeClr val="bg1"/>
              </a:solidFill>
            </a:endParaRPr>
          </a:p>
        </p:txBody>
      </p:sp>
    </p:spTree>
    <p:extLst>
      <p:ext uri="{BB962C8B-B14F-4D97-AF65-F5344CB8AC3E}">
        <p14:creationId xmlns:p14="http://schemas.microsoft.com/office/powerpoint/2010/main" val="778637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26B79-0C6A-8C99-D577-03BC0E3BDEB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039526-6DBB-1395-B910-223D9C050A89}"/>
              </a:ext>
            </a:extLst>
          </p:cNvPr>
          <p:cNvSpPr>
            <a:spLocks noGrp="1"/>
          </p:cNvSpPr>
          <p:nvPr>
            <p:ph type="title"/>
          </p:nvPr>
        </p:nvSpPr>
        <p:spPr>
          <a:xfrm>
            <a:off x="238539" y="400486"/>
            <a:ext cx="10591025" cy="1203028"/>
          </a:xfrm>
        </p:spPr>
        <p:txBody>
          <a:bodyPr/>
          <a:lstStyle/>
          <a:p>
            <a:r>
              <a:rPr lang="en-US" dirty="0"/>
              <a:t>Background-genetic algorithms</a:t>
            </a:r>
          </a:p>
        </p:txBody>
      </p:sp>
      <p:sp>
        <p:nvSpPr>
          <p:cNvPr id="9" name="TextBox 8">
            <a:extLst>
              <a:ext uri="{FF2B5EF4-FFF2-40B4-BE49-F238E27FC236}">
                <a16:creationId xmlns:a16="http://schemas.microsoft.com/office/drawing/2014/main" id="{B5EF71B6-AF9A-E13C-EE5F-AC26267F3A6D}"/>
              </a:ext>
            </a:extLst>
          </p:cNvPr>
          <p:cNvSpPr txBox="1"/>
          <p:nvPr/>
        </p:nvSpPr>
        <p:spPr>
          <a:xfrm>
            <a:off x="417443" y="1855304"/>
            <a:ext cx="11178209" cy="1477328"/>
          </a:xfrm>
          <a:prstGeom prst="rect">
            <a:avLst/>
          </a:prstGeom>
          <a:noFill/>
        </p:spPr>
        <p:txBody>
          <a:bodyPr wrap="square" rtlCol="0">
            <a:spAutoFit/>
          </a:bodyPr>
          <a:lstStyle/>
          <a:p>
            <a:endParaRPr lang="en-US" dirty="0">
              <a:solidFill>
                <a:schemeClr val="bg1"/>
              </a:solidFill>
            </a:endParaRPr>
          </a:p>
          <a:p>
            <a:r>
              <a:rPr lang="en-US" dirty="0">
                <a:solidFill>
                  <a:schemeClr val="bg1"/>
                </a:solidFill>
              </a:rPr>
              <a:t> In our case we encode as the genes: solutions/torus of the traveling salesman problem.</a:t>
            </a:r>
          </a:p>
          <a:p>
            <a:r>
              <a:rPr lang="en-US" dirty="0">
                <a:solidFill>
                  <a:schemeClr val="bg1"/>
                </a:solidFill>
              </a:rPr>
              <a:t>We initialize random  sequences of tour traversal as our initial population</a:t>
            </a:r>
          </a:p>
          <a:p>
            <a:endParaRPr lang="en-US" dirty="0">
              <a:solidFill>
                <a:schemeClr val="bg1"/>
              </a:solidFill>
            </a:endParaRPr>
          </a:p>
          <a:p>
            <a:endParaRPr lang="en-US" dirty="0">
              <a:solidFill>
                <a:schemeClr val="bg1"/>
              </a:solidFill>
            </a:endParaRPr>
          </a:p>
        </p:txBody>
      </p:sp>
    </p:spTree>
    <p:extLst>
      <p:ext uri="{BB962C8B-B14F-4D97-AF65-F5344CB8AC3E}">
        <p14:creationId xmlns:p14="http://schemas.microsoft.com/office/powerpoint/2010/main" val="15011386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D5F5B-6944-B9F4-034D-F3A8DD11A5E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E76032-2200-883D-FA80-61807A4ECAC5}"/>
              </a:ext>
            </a:extLst>
          </p:cNvPr>
          <p:cNvSpPr>
            <a:spLocks noGrp="1"/>
          </p:cNvSpPr>
          <p:nvPr>
            <p:ph type="title"/>
          </p:nvPr>
        </p:nvSpPr>
        <p:spPr>
          <a:xfrm>
            <a:off x="238539" y="400486"/>
            <a:ext cx="10591025" cy="1203028"/>
          </a:xfrm>
        </p:spPr>
        <p:txBody>
          <a:bodyPr/>
          <a:lstStyle/>
          <a:p>
            <a:r>
              <a:rPr lang="en-US" dirty="0"/>
              <a:t>Design challenge – </a:t>
            </a:r>
            <a:r>
              <a:rPr lang="en-US" dirty="0" err="1"/>
              <a:t>cuda</a:t>
            </a:r>
            <a:r>
              <a:rPr lang="en-US" dirty="0"/>
              <a:t> specific</a:t>
            </a:r>
          </a:p>
        </p:txBody>
      </p:sp>
      <p:sp>
        <p:nvSpPr>
          <p:cNvPr id="9" name="TextBox 8">
            <a:extLst>
              <a:ext uri="{FF2B5EF4-FFF2-40B4-BE49-F238E27FC236}">
                <a16:creationId xmlns:a16="http://schemas.microsoft.com/office/drawing/2014/main" id="{99A1D5D2-A1DE-6A14-A9E9-D6192BDC3C15}"/>
              </a:ext>
            </a:extLst>
          </p:cNvPr>
          <p:cNvSpPr txBox="1"/>
          <p:nvPr/>
        </p:nvSpPr>
        <p:spPr>
          <a:xfrm>
            <a:off x="417443" y="1855304"/>
            <a:ext cx="11178209" cy="2814617"/>
          </a:xfrm>
          <a:prstGeom prst="rect">
            <a:avLst/>
          </a:prstGeom>
          <a:noFill/>
        </p:spPr>
        <p:txBody>
          <a:bodyPr wrap="square" rtlCol="0">
            <a:spAutoFit/>
          </a:bodyPr>
          <a:lstStyle/>
          <a:p>
            <a:pPr>
              <a:lnSpc>
                <a:spcPct val="150000"/>
              </a:lnSpc>
            </a:pPr>
            <a:r>
              <a:rPr lang="en-US" sz="2000" dirty="0">
                <a:solidFill>
                  <a:schemeClr val="bg1"/>
                </a:solidFill>
              </a:rPr>
              <a:t>While Genetic Algorithms are an easily parallelable in theory, there are many design challenges to consider:</a:t>
            </a:r>
          </a:p>
          <a:p>
            <a:pPr marL="285750" indent="-285750">
              <a:lnSpc>
                <a:spcPct val="150000"/>
              </a:lnSpc>
              <a:buFont typeface="Arial" panose="020B0604020202020204" pitchFamily="34" charset="0"/>
              <a:buChar char="•"/>
            </a:pPr>
            <a:r>
              <a:rPr lang="en-US" sz="2000" dirty="0">
                <a:solidFill>
                  <a:schemeClr val="bg1"/>
                </a:solidFill>
              </a:rPr>
              <a:t>Where and how to represent the candidate populations in memory</a:t>
            </a:r>
          </a:p>
          <a:p>
            <a:pPr marL="285750" indent="-285750">
              <a:lnSpc>
                <a:spcPct val="150000"/>
              </a:lnSpc>
              <a:buFont typeface="Arial" panose="020B0604020202020204" pitchFamily="34" charset="0"/>
              <a:buChar char="•"/>
            </a:pPr>
            <a:r>
              <a:rPr lang="en-US" sz="2000" dirty="0">
                <a:solidFill>
                  <a:schemeClr val="bg1"/>
                </a:solidFill>
              </a:rPr>
              <a:t>How to communicate between blocks to allow cross mutation</a:t>
            </a:r>
          </a:p>
          <a:p>
            <a:pPr marL="285750" indent="-285750">
              <a:lnSpc>
                <a:spcPct val="150000"/>
              </a:lnSpc>
              <a:buFont typeface="Arial" panose="020B0604020202020204" pitchFamily="34" charset="0"/>
              <a:buChar char="•"/>
            </a:pPr>
            <a:r>
              <a:rPr lang="en-US" sz="2000" dirty="0">
                <a:solidFill>
                  <a:schemeClr val="bg1"/>
                </a:solidFill>
              </a:rPr>
              <a:t>How to store the distance matrix to facilitate tour distance evaluation</a:t>
            </a:r>
          </a:p>
          <a:p>
            <a:pPr marL="285750" indent="-285750">
              <a:lnSpc>
                <a:spcPct val="150000"/>
              </a:lnSpc>
              <a:buFont typeface="Arial" panose="020B0604020202020204" pitchFamily="34" charset="0"/>
              <a:buChar char="•"/>
            </a:pPr>
            <a:r>
              <a:rPr lang="en-US" sz="2000" dirty="0">
                <a:solidFill>
                  <a:schemeClr val="bg1"/>
                </a:solidFill>
              </a:rPr>
              <a:t>Tuning the GA numbers to</a:t>
            </a:r>
          </a:p>
        </p:txBody>
      </p:sp>
    </p:spTree>
    <p:extLst>
      <p:ext uri="{BB962C8B-B14F-4D97-AF65-F5344CB8AC3E}">
        <p14:creationId xmlns:p14="http://schemas.microsoft.com/office/powerpoint/2010/main" val="2690513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4DF72-8BC7-3B18-4906-7DCE9B5AAD6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359BBD-820F-DAFA-7086-717B92DB0217}"/>
              </a:ext>
            </a:extLst>
          </p:cNvPr>
          <p:cNvSpPr>
            <a:spLocks noGrp="1"/>
          </p:cNvSpPr>
          <p:nvPr>
            <p:ph type="title"/>
          </p:nvPr>
        </p:nvSpPr>
        <p:spPr>
          <a:xfrm>
            <a:off x="238539" y="400486"/>
            <a:ext cx="10591025" cy="1203028"/>
          </a:xfrm>
        </p:spPr>
        <p:txBody>
          <a:bodyPr/>
          <a:lstStyle/>
          <a:p>
            <a:r>
              <a:rPr lang="en-US" dirty="0"/>
              <a:t>Basic tsp solver for </a:t>
            </a:r>
            <a:r>
              <a:rPr lang="en-US" dirty="0" err="1"/>
              <a:t>cuda</a:t>
            </a:r>
            <a:endParaRPr lang="en-US" dirty="0"/>
          </a:p>
        </p:txBody>
      </p:sp>
      <p:sp>
        <p:nvSpPr>
          <p:cNvPr id="9" name="TextBox 8">
            <a:extLst>
              <a:ext uri="{FF2B5EF4-FFF2-40B4-BE49-F238E27FC236}">
                <a16:creationId xmlns:a16="http://schemas.microsoft.com/office/drawing/2014/main" id="{C6BC477E-4860-1D45-5322-B7491CF433B9}"/>
              </a:ext>
            </a:extLst>
          </p:cNvPr>
          <p:cNvSpPr txBox="1"/>
          <p:nvPr/>
        </p:nvSpPr>
        <p:spPr>
          <a:xfrm>
            <a:off x="417443" y="1855304"/>
            <a:ext cx="11178209" cy="3046988"/>
          </a:xfrm>
          <a:prstGeom prst="rect">
            <a:avLst/>
          </a:prstGeom>
          <a:noFill/>
        </p:spPr>
        <p:txBody>
          <a:bodyPr wrap="square" rtlCol="0">
            <a:spAutoFit/>
          </a:bodyPr>
          <a:lstStyle/>
          <a:p>
            <a:r>
              <a:rPr lang="en-US" sz="2400" dirty="0">
                <a:solidFill>
                  <a:schemeClr val="bg1"/>
                </a:solidFill>
              </a:rPr>
              <a:t>The most basic approach involves writing a very greedy algorithm which simply chooses the closest neighbor from the current node and creates a tour in this fashion iteratively</a:t>
            </a:r>
          </a:p>
          <a:p>
            <a:endParaRPr lang="en-US" sz="2400" dirty="0">
              <a:solidFill>
                <a:schemeClr val="bg1"/>
              </a:solidFill>
            </a:endParaRPr>
          </a:p>
          <a:p>
            <a:r>
              <a:rPr lang="en-US" sz="2400" dirty="0">
                <a:solidFill>
                  <a:schemeClr val="bg1"/>
                </a:solidFill>
              </a:rPr>
              <a:t>This tour is of course not very good, but it does generate a useful heuristic to feed an elite population member to the Genetic algorithm portion.</a:t>
            </a:r>
          </a:p>
          <a:p>
            <a:endParaRPr lang="en-US" sz="2400" dirty="0">
              <a:solidFill>
                <a:schemeClr val="bg1"/>
              </a:solidFill>
            </a:endParaRPr>
          </a:p>
          <a:p>
            <a:r>
              <a:rPr lang="en-US" sz="2400" dirty="0">
                <a:solidFill>
                  <a:schemeClr val="bg1"/>
                </a:solidFill>
              </a:rPr>
              <a:t>This tour was evaluated using the GPU kernel, and tuned and optimize, since the fitness evaluation function will be called very often.</a:t>
            </a:r>
          </a:p>
        </p:txBody>
      </p:sp>
    </p:spTree>
    <p:extLst>
      <p:ext uri="{BB962C8B-B14F-4D97-AF65-F5344CB8AC3E}">
        <p14:creationId xmlns:p14="http://schemas.microsoft.com/office/powerpoint/2010/main" val="3107276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48798-DA2B-05B1-0385-95A446011C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8136018-05D6-788A-91D2-2B11989AE68A}"/>
              </a:ext>
            </a:extLst>
          </p:cNvPr>
          <p:cNvSpPr>
            <a:spLocks noGrp="1"/>
          </p:cNvSpPr>
          <p:nvPr>
            <p:ph type="title"/>
          </p:nvPr>
        </p:nvSpPr>
        <p:spPr>
          <a:xfrm>
            <a:off x="238539" y="400486"/>
            <a:ext cx="10591025" cy="1203028"/>
          </a:xfrm>
        </p:spPr>
        <p:txBody>
          <a:bodyPr/>
          <a:lstStyle/>
          <a:p>
            <a:r>
              <a:rPr lang="en-US" dirty="0"/>
              <a:t>Basic ga for </a:t>
            </a:r>
            <a:r>
              <a:rPr lang="en-US" dirty="0" err="1"/>
              <a:t>cuda</a:t>
            </a:r>
            <a:endParaRPr lang="en-US" dirty="0"/>
          </a:p>
        </p:txBody>
      </p:sp>
      <p:sp>
        <p:nvSpPr>
          <p:cNvPr id="9" name="TextBox 8">
            <a:extLst>
              <a:ext uri="{FF2B5EF4-FFF2-40B4-BE49-F238E27FC236}">
                <a16:creationId xmlns:a16="http://schemas.microsoft.com/office/drawing/2014/main" id="{0C36C5E8-93A7-FCB2-4E27-874934D74094}"/>
              </a:ext>
            </a:extLst>
          </p:cNvPr>
          <p:cNvSpPr txBox="1"/>
          <p:nvPr/>
        </p:nvSpPr>
        <p:spPr>
          <a:xfrm>
            <a:off x="417443" y="1855304"/>
            <a:ext cx="11178209" cy="646331"/>
          </a:xfrm>
          <a:prstGeom prst="rect">
            <a:avLst/>
          </a:prstGeom>
          <a:noFill/>
        </p:spPr>
        <p:txBody>
          <a:bodyPr wrap="square" rtlCol="0">
            <a:spAutoFit/>
          </a:bodyPr>
          <a:lstStyle/>
          <a:p>
            <a:r>
              <a:rPr lang="en-US" dirty="0">
                <a:solidFill>
                  <a:schemeClr val="bg1"/>
                </a:solidFill>
              </a:rPr>
              <a:t>After implementing fitness evaluation the next step is to get the most simple form of Genetic Algorithms running in a parallel fashion, giving a basis for further optimization.</a:t>
            </a:r>
          </a:p>
        </p:txBody>
      </p:sp>
    </p:spTree>
    <p:extLst>
      <p:ext uri="{BB962C8B-B14F-4D97-AF65-F5344CB8AC3E}">
        <p14:creationId xmlns:p14="http://schemas.microsoft.com/office/powerpoint/2010/main" val="2046058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76143-72C2-81B3-9EFB-C6957D49AE8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9D829E-DA12-348E-EE38-D1CAA9403400}"/>
              </a:ext>
            </a:extLst>
          </p:cNvPr>
          <p:cNvSpPr>
            <a:spLocks noGrp="1"/>
          </p:cNvSpPr>
          <p:nvPr>
            <p:ph type="title"/>
          </p:nvPr>
        </p:nvSpPr>
        <p:spPr>
          <a:xfrm>
            <a:off x="238539" y="400486"/>
            <a:ext cx="10591025" cy="1203028"/>
          </a:xfrm>
        </p:spPr>
        <p:txBody>
          <a:bodyPr/>
          <a:lstStyle/>
          <a:p>
            <a:r>
              <a:rPr lang="en-US" dirty="0"/>
              <a:t>Optimization idea 1 - </a:t>
            </a:r>
            <a:r>
              <a:rPr lang="en-US" dirty="0" err="1"/>
              <a:t>coalesing</a:t>
            </a:r>
            <a:endParaRPr lang="en-US" dirty="0"/>
          </a:p>
        </p:txBody>
      </p:sp>
      <p:sp>
        <p:nvSpPr>
          <p:cNvPr id="9" name="TextBox 8">
            <a:extLst>
              <a:ext uri="{FF2B5EF4-FFF2-40B4-BE49-F238E27FC236}">
                <a16:creationId xmlns:a16="http://schemas.microsoft.com/office/drawing/2014/main" id="{33420B2B-76D9-AE0A-7BF0-DCD6BD396855}"/>
              </a:ext>
            </a:extLst>
          </p:cNvPr>
          <p:cNvSpPr txBox="1"/>
          <p:nvPr/>
        </p:nvSpPr>
        <p:spPr>
          <a:xfrm>
            <a:off x="417443" y="1855304"/>
            <a:ext cx="11178209" cy="3139321"/>
          </a:xfrm>
          <a:prstGeom prst="rect">
            <a:avLst/>
          </a:prstGeom>
          <a:noFill/>
        </p:spPr>
        <p:txBody>
          <a:bodyPr wrap="square" rtlCol="0">
            <a:spAutoFit/>
          </a:bodyPr>
          <a:lstStyle/>
          <a:p>
            <a:r>
              <a:rPr lang="en-US" dirty="0">
                <a:solidFill>
                  <a:schemeClr val="bg1"/>
                </a:solidFill>
              </a:rPr>
              <a:t>Memory coalescing was optimized by reorganizing tour data so that neighboring CUDA threads access neighboring memory addresses at the same tour step. Instead of storing each tour contiguously and causing </a:t>
            </a:r>
            <a:r>
              <a:rPr lang="en-US" dirty="0" err="1">
                <a:solidFill>
                  <a:schemeClr val="bg1"/>
                </a:solidFill>
              </a:rPr>
              <a:t>strided</a:t>
            </a:r>
            <a:r>
              <a:rPr lang="en-US" dirty="0">
                <a:solidFill>
                  <a:schemeClr val="bg1"/>
                </a:solidFill>
              </a:rPr>
              <a:t> reads across a warp, the population can be transposed so city positions are grouped together across tours. This allows a warp to fetch consecutive city indices in fewer memory transactions, reducing global memory bandwidth waste and improving fitness-evaluation throughput.</a:t>
            </a:r>
          </a:p>
          <a:p>
            <a:endParaRPr lang="en-US" dirty="0">
              <a:solidFill>
                <a:schemeClr val="bg1"/>
              </a:solidFill>
            </a:endParaRPr>
          </a:p>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1739544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8182518E-862D-CDDF-0FDE-4FCD2BED73F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10029" b="10029"/>
          <a:stretch>
            <a:fillRect/>
          </a:stretch>
        </p:blipFill>
        <p:spPr>
          <a:prstGeom prst="rect">
            <a:avLst/>
          </a:prstGeom>
          <a:solidFill>
            <a:srgbClr val="000000"/>
          </a:solidFill>
        </p:spPr>
      </p:pic>
    </p:spTree>
    <p:extLst>
      <p:ext uri="{BB962C8B-B14F-4D97-AF65-F5344CB8AC3E}">
        <p14:creationId xmlns:p14="http://schemas.microsoft.com/office/powerpoint/2010/main" val="1511441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0E79F84E-7117-4CFA-B978-B3C540BC78D9}"/>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6436" b="6436"/>
          <a:stretch>
            <a:fillRect/>
          </a:stretch>
        </p:blipFill>
        <p:spPr>
          <a:prstGeom prst="rect">
            <a:avLst/>
          </a:prstGeom>
          <a:solidFill>
            <a:srgbClr val="000000"/>
          </a:solidFill>
        </p:spPr>
      </p:pic>
    </p:spTree>
    <p:extLst>
      <p:ext uri="{BB962C8B-B14F-4D97-AF65-F5344CB8AC3E}">
        <p14:creationId xmlns:p14="http://schemas.microsoft.com/office/powerpoint/2010/main" val="27975236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541C5-EE78-3E33-C8E8-FA0E72019FA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95B012E-E026-55C0-9686-B7357AA1AC80}"/>
              </a:ext>
            </a:extLst>
          </p:cNvPr>
          <p:cNvSpPr>
            <a:spLocks noGrp="1"/>
          </p:cNvSpPr>
          <p:nvPr>
            <p:ph type="title"/>
          </p:nvPr>
        </p:nvSpPr>
        <p:spPr>
          <a:xfrm>
            <a:off x="238539" y="400486"/>
            <a:ext cx="10591025" cy="1203028"/>
          </a:xfrm>
        </p:spPr>
        <p:txBody>
          <a:bodyPr/>
          <a:lstStyle/>
          <a:p>
            <a:r>
              <a:rPr lang="en-US" dirty="0"/>
              <a:t>Optimization idea 2 – opt 2</a:t>
            </a:r>
          </a:p>
        </p:txBody>
      </p:sp>
      <p:sp>
        <p:nvSpPr>
          <p:cNvPr id="9" name="TextBox 8">
            <a:extLst>
              <a:ext uri="{FF2B5EF4-FFF2-40B4-BE49-F238E27FC236}">
                <a16:creationId xmlns:a16="http://schemas.microsoft.com/office/drawing/2014/main" id="{5321FE30-8222-3B64-915C-E1E8250C16EA}"/>
              </a:ext>
            </a:extLst>
          </p:cNvPr>
          <p:cNvSpPr txBox="1"/>
          <p:nvPr/>
        </p:nvSpPr>
        <p:spPr>
          <a:xfrm>
            <a:off x="417443" y="1855304"/>
            <a:ext cx="11178209" cy="3139321"/>
          </a:xfrm>
          <a:prstGeom prst="rect">
            <a:avLst/>
          </a:prstGeom>
          <a:noFill/>
        </p:spPr>
        <p:txBody>
          <a:bodyPr wrap="square" rtlCol="0">
            <a:spAutoFit/>
          </a:bodyPr>
          <a:lstStyle/>
          <a:p>
            <a:r>
              <a:rPr lang="en-US" dirty="0">
                <a:solidFill>
                  <a:schemeClr val="bg1"/>
                </a:solidFill>
              </a:rPr>
              <a:t>2-opt can be used as a local improvement step to refine tours produced by the genetic algorithm. After crossover and mutation create a candidate route, 2-opt checks whether reversing a segment of the tour would remove crossing edges and shorten the total distance. This helps the GA converge faster by improving solution quality within each generation, though it must be applied selectively in CUDA because exhaustive 2-opt searches can add significant computation and memory-access overhead.</a:t>
            </a:r>
          </a:p>
          <a:p>
            <a:endParaRPr lang="en-US" dirty="0">
              <a:solidFill>
                <a:schemeClr val="bg1"/>
              </a:solidFill>
            </a:endParaRPr>
          </a:p>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8226876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2BC2-8AD7-5A80-FA84-5D7B30B3BBD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F4303D7-7EE4-59DD-82E5-350E9039C234}"/>
              </a:ext>
            </a:extLst>
          </p:cNvPr>
          <p:cNvSpPr>
            <a:spLocks noGrp="1"/>
          </p:cNvSpPr>
          <p:nvPr>
            <p:ph type="title"/>
          </p:nvPr>
        </p:nvSpPr>
        <p:spPr>
          <a:xfrm>
            <a:off x="417443" y="531114"/>
            <a:ext cx="10591025" cy="1203028"/>
          </a:xfrm>
        </p:spPr>
        <p:txBody>
          <a:bodyPr/>
          <a:lstStyle/>
          <a:p>
            <a:r>
              <a:rPr lang="en-US" dirty="0"/>
              <a:t>Optimization idea 3 – </a:t>
            </a:r>
            <a:br>
              <a:rPr lang="en-US" dirty="0"/>
            </a:br>
            <a:r>
              <a:rPr lang="en-US" dirty="0"/>
              <a:t>Memory Bank </a:t>
            </a:r>
            <a:r>
              <a:rPr lang="en-US" dirty="0" err="1"/>
              <a:t>ConflicT</a:t>
            </a:r>
            <a:endParaRPr lang="en-US" dirty="0"/>
          </a:p>
        </p:txBody>
      </p:sp>
      <p:sp>
        <p:nvSpPr>
          <p:cNvPr id="9" name="TextBox 8">
            <a:extLst>
              <a:ext uri="{FF2B5EF4-FFF2-40B4-BE49-F238E27FC236}">
                <a16:creationId xmlns:a16="http://schemas.microsoft.com/office/drawing/2014/main" id="{D1235E0F-CE70-7549-FB6F-DB5479531DD5}"/>
              </a:ext>
            </a:extLst>
          </p:cNvPr>
          <p:cNvSpPr txBox="1"/>
          <p:nvPr/>
        </p:nvSpPr>
        <p:spPr>
          <a:xfrm>
            <a:off x="417443" y="3646531"/>
            <a:ext cx="11178209" cy="1477328"/>
          </a:xfrm>
          <a:prstGeom prst="rect">
            <a:avLst/>
          </a:prstGeom>
          <a:noFill/>
        </p:spPr>
        <p:txBody>
          <a:bodyPr wrap="square" rtlCol="0">
            <a:spAutoFit/>
          </a:bodyPr>
          <a:lstStyle/>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
        <p:nvSpPr>
          <p:cNvPr id="2" name="TextBox 1">
            <a:extLst>
              <a:ext uri="{FF2B5EF4-FFF2-40B4-BE49-F238E27FC236}">
                <a16:creationId xmlns:a16="http://schemas.microsoft.com/office/drawing/2014/main" id="{515172FD-E6AC-46C3-6536-421CD4991599}"/>
              </a:ext>
            </a:extLst>
          </p:cNvPr>
          <p:cNvSpPr txBox="1"/>
          <p:nvPr/>
        </p:nvSpPr>
        <p:spPr>
          <a:xfrm>
            <a:off x="417443" y="2169203"/>
            <a:ext cx="11178209" cy="2585323"/>
          </a:xfrm>
          <a:prstGeom prst="rect">
            <a:avLst/>
          </a:prstGeom>
          <a:noFill/>
        </p:spPr>
        <p:txBody>
          <a:bodyPr wrap="square" rtlCol="0">
            <a:spAutoFit/>
          </a:bodyPr>
          <a:lstStyle/>
          <a:p>
            <a:r>
              <a:rPr lang="en-US" dirty="0">
                <a:solidFill>
                  <a:schemeClr val="bg1"/>
                </a:solidFill>
              </a:rPr>
              <a:t>Shared Memory is organized in Banks. Our GPU P100 has 32 memory banks each 4 bytes wide. The pattern of memory access :   </a:t>
            </a:r>
            <a:r>
              <a:rPr lang="en-US" dirty="0" err="1">
                <a:solidFill>
                  <a:schemeClr val="bg1"/>
                </a:solidFill>
              </a:rPr>
              <a:t>pop_a</a:t>
            </a:r>
            <a:r>
              <a:rPr lang="en-US" dirty="0">
                <a:solidFill>
                  <a:schemeClr val="bg1"/>
                </a:solidFill>
              </a:rPr>
              <a:t>[t * n + k] with n = 128</a:t>
            </a:r>
          </a:p>
          <a:p>
            <a:r>
              <a:rPr lang="en-US" dirty="0">
                <a:solidFill>
                  <a:schemeClr val="bg1"/>
                </a:solidFill>
              </a:rPr>
              <a:t>Has the property of being multiple of 32. So each time we are hitting the same memory bank.</a:t>
            </a:r>
          </a:p>
          <a:p>
            <a:r>
              <a:rPr lang="en-US" dirty="0">
                <a:solidFill>
                  <a:schemeClr val="bg1"/>
                </a:solidFill>
              </a:rPr>
              <a:t>Every thread in the warp hits the same bank at the same instruction, provoking  a 32-way bank conflict. The hardware serializes these 32 accesses into 32 sequential transactions. We want to avoid this serialization</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spTree>
    <p:extLst>
      <p:ext uri="{BB962C8B-B14F-4D97-AF65-F5344CB8AC3E}">
        <p14:creationId xmlns:p14="http://schemas.microsoft.com/office/powerpoint/2010/main" val="1845701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62CF579C-3CD5-0D53-198F-AF80BDBBBEC4}"/>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3563" b="3563"/>
          <a:stretch>
            <a:fillRect/>
          </a:stretch>
        </p:blipFill>
        <p:spPr>
          <a:prstGeom prst="rect">
            <a:avLst/>
          </a:prstGeom>
          <a:solidFill>
            <a:srgbClr val="000000"/>
          </a:solidFill>
        </p:spPr>
      </p:pic>
    </p:spTree>
    <p:extLst>
      <p:ext uri="{BB962C8B-B14F-4D97-AF65-F5344CB8AC3E}">
        <p14:creationId xmlns:p14="http://schemas.microsoft.com/office/powerpoint/2010/main" val="936165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7644E-84F2-A808-CE9C-8DD1765945E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BB57DA8-424F-D299-8933-2085128D4246}"/>
              </a:ext>
            </a:extLst>
          </p:cNvPr>
          <p:cNvSpPr>
            <a:spLocks noGrp="1"/>
          </p:cNvSpPr>
          <p:nvPr>
            <p:ph type="title"/>
          </p:nvPr>
        </p:nvSpPr>
        <p:spPr>
          <a:xfrm>
            <a:off x="238539" y="400486"/>
            <a:ext cx="10591025" cy="1203028"/>
          </a:xfrm>
        </p:spPr>
        <p:txBody>
          <a:bodyPr/>
          <a:lstStyle/>
          <a:p>
            <a:r>
              <a:rPr lang="en-US" dirty="0"/>
              <a:t>Conclusion and overall results</a:t>
            </a:r>
          </a:p>
        </p:txBody>
      </p:sp>
      <p:sp>
        <p:nvSpPr>
          <p:cNvPr id="9" name="TextBox 8">
            <a:extLst>
              <a:ext uri="{FF2B5EF4-FFF2-40B4-BE49-F238E27FC236}">
                <a16:creationId xmlns:a16="http://schemas.microsoft.com/office/drawing/2014/main" id="{71F35D2F-246C-488C-A7E6-868FBB25F279}"/>
              </a:ext>
            </a:extLst>
          </p:cNvPr>
          <p:cNvSpPr txBox="1"/>
          <p:nvPr/>
        </p:nvSpPr>
        <p:spPr>
          <a:xfrm>
            <a:off x="417443" y="1855304"/>
            <a:ext cx="11178209" cy="4801314"/>
          </a:xfrm>
          <a:prstGeom prst="rect">
            <a:avLst/>
          </a:prstGeom>
          <a:noFill/>
        </p:spPr>
        <p:txBody>
          <a:bodyPr wrap="square" rtlCol="0">
            <a:spAutoFit/>
          </a:bodyPr>
          <a:lstStyle/>
          <a:p>
            <a:r>
              <a:rPr lang="en-US" dirty="0">
                <a:solidFill>
                  <a:schemeClr val="bg1"/>
                </a:solidFill>
              </a:rPr>
              <a:t>Placeholder Results and Conclusions</a:t>
            </a:r>
          </a:p>
          <a:p>
            <a:endParaRPr lang="en-US" dirty="0">
              <a:solidFill>
                <a:schemeClr val="bg1"/>
              </a:solidFill>
            </a:endParaRPr>
          </a:p>
          <a:p>
            <a:r>
              <a:rPr lang="en-US" dirty="0">
                <a:solidFill>
                  <a:schemeClr val="bg1"/>
                </a:solidFill>
              </a:rPr>
              <a:t>At this stage, the reported results are preliminary and should be treated as placeholders. The project has established the baseline implementations and identified several promising CUDA optimization techniques, including improved memory coalescing, GPU-resident population evolution, and possible 2-opt local search improvements. However, these optimizations have not yet been fully implemented, benchmarked, or validated.</a:t>
            </a:r>
          </a:p>
          <a:p>
            <a:endParaRPr lang="en-US" dirty="0">
              <a:solidFill>
                <a:schemeClr val="bg1"/>
              </a:solidFill>
            </a:endParaRPr>
          </a:p>
          <a:p>
            <a:r>
              <a:rPr lang="en-US" dirty="0">
                <a:solidFill>
                  <a:schemeClr val="bg1"/>
                </a:solidFill>
              </a:rPr>
              <a:t>The current conclusion is that CUDA offers strong potential for accelerating the Traveling Salesman genetic algorithm, especially in the fitness-evaluation stage where many tours can be processed in parallel. Future work will focus on implementing the proposed optimizations, measuring their effect on runtime and solution quality, and comparing the optimized GPU versions against the sequential and naive CUDA baselines.</a:t>
            </a:r>
          </a:p>
          <a:p>
            <a:endParaRPr lang="en-US" dirty="0">
              <a:solidFill>
                <a:schemeClr val="bg1"/>
              </a:solidFill>
            </a:endParaRPr>
          </a:p>
          <a:p>
            <a:r>
              <a:rPr lang="en-US" dirty="0">
                <a:solidFill>
                  <a:schemeClr val="bg1"/>
                </a:solidFill>
              </a:rPr>
              <a:t>Results!</a:t>
            </a:r>
          </a:p>
          <a:p>
            <a:endParaRPr lang="en-US" dirty="0">
              <a:solidFill>
                <a:schemeClr val="bg1"/>
              </a:solidFill>
            </a:endParaRPr>
          </a:p>
          <a:p>
            <a:r>
              <a:rPr lang="en-US" dirty="0">
                <a:solidFill>
                  <a:schemeClr val="bg1"/>
                </a:solidFill>
              </a:rPr>
              <a:t>Graphs!</a:t>
            </a:r>
          </a:p>
          <a:p>
            <a:endParaRPr lang="en-US" dirty="0">
              <a:solidFill>
                <a:schemeClr val="bg1"/>
              </a:solidFill>
            </a:endParaRPr>
          </a:p>
          <a:p>
            <a:r>
              <a:rPr lang="en-US" dirty="0">
                <a:solidFill>
                  <a:schemeClr val="bg1"/>
                </a:solidFill>
              </a:rPr>
              <a:t>Tables!</a:t>
            </a:r>
          </a:p>
        </p:txBody>
      </p:sp>
    </p:spTree>
    <p:extLst>
      <p:ext uri="{BB962C8B-B14F-4D97-AF65-F5344CB8AC3E}">
        <p14:creationId xmlns:p14="http://schemas.microsoft.com/office/powerpoint/2010/main" val="926614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B05EF-E886-8F19-CD48-618769CBD3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0E2A952-FC6A-44AB-36B0-B5C689464DE6}"/>
              </a:ext>
            </a:extLst>
          </p:cNvPr>
          <p:cNvSpPr>
            <a:spLocks noGrp="1"/>
          </p:cNvSpPr>
          <p:nvPr>
            <p:ph type="title"/>
          </p:nvPr>
        </p:nvSpPr>
        <p:spPr>
          <a:xfrm>
            <a:off x="417443" y="2282295"/>
            <a:ext cx="10591025" cy="1203028"/>
          </a:xfrm>
        </p:spPr>
        <p:txBody>
          <a:bodyPr/>
          <a:lstStyle/>
          <a:p>
            <a:r>
              <a:rPr lang="en-US" dirty="0"/>
              <a:t>Questions?</a:t>
            </a:r>
          </a:p>
        </p:txBody>
      </p:sp>
    </p:spTree>
    <p:extLst>
      <p:ext uri="{BB962C8B-B14F-4D97-AF65-F5344CB8AC3E}">
        <p14:creationId xmlns:p14="http://schemas.microsoft.com/office/powerpoint/2010/main" val="338392241"/>
      </p:ext>
    </p:extLst>
  </p:cSld>
  <p:clrMapOvr>
    <a:masterClrMapping/>
  </p:clrMapOvr>
</p:sld>
</file>

<file path=ppt/theme/theme1.xml><?xml version="1.0" encoding="utf-8"?>
<a:theme xmlns:a="http://schemas.openxmlformats.org/drawingml/2006/main" name="Custom">
  <a:themeElements>
    <a:clrScheme name="Tech presentation">
      <a:dk1>
        <a:srgbClr val="000000"/>
      </a:dk1>
      <a:lt1>
        <a:srgbClr val="FFFFFF"/>
      </a:lt1>
      <a:dk2>
        <a:srgbClr val="435369"/>
      </a:dk2>
      <a:lt2>
        <a:srgbClr val="E8E8E8"/>
      </a:lt2>
      <a:accent1>
        <a:srgbClr val="A53F51"/>
      </a:accent1>
      <a:accent2>
        <a:srgbClr val="E89756"/>
      </a:accent2>
      <a:accent3>
        <a:srgbClr val="2F3342"/>
      </a:accent3>
      <a:accent4>
        <a:srgbClr val="2B2052"/>
      </a:accent4>
      <a:accent5>
        <a:srgbClr val="00023A"/>
      </a:accent5>
      <a:accent6>
        <a:srgbClr val="7E7E7E"/>
      </a:accent6>
      <a:hlink>
        <a:srgbClr val="467886"/>
      </a:hlink>
      <a:folHlink>
        <a:srgbClr val="96607D"/>
      </a:folHlink>
    </a:clrScheme>
    <a:fontScheme name="Custom 99">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M55661986_wac_CP_V19" id="{030227AD-26D8-46F7-B412-6532AF4DDFEA}" vid="{787E6F9C-FC70-455D-8D81-5DEDA8A08FF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5F2A2379-DD35-4769-BFD6-4857D72F80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F048343-1EA9-44C3-883E-652FAAF0713E}">
  <ds:schemaRefs>
    <ds:schemaRef ds:uri="http://schemas.microsoft.com/sharepoint/v3/contenttype/forms"/>
  </ds:schemaRefs>
</ds:datastoreItem>
</file>

<file path=customXml/itemProps3.xml><?xml version="1.0" encoding="utf-8"?>
<ds:datastoreItem xmlns:ds="http://schemas.openxmlformats.org/officeDocument/2006/customXml" ds:itemID="{85C2645A-E767-4D7E-984D-234E531E455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Gallery</Template>
  <TotalTime>113</TotalTime>
  <Words>1014</Words>
  <Application>Microsoft Office PowerPoint</Application>
  <PresentationFormat>Widescreen</PresentationFormat>
  <Paragraphs>91</Paragraphs>
  <Slides>16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Calibri</vt:lpstr>
      <vt:lpstr>Calibri Light</vt:lpstr>
      <vt:lpstr>Wingdings</vt:lpstr>
      <vt:lpstr>Custom</vt:lpstr>
      <vt:lpstr>Cuda Accelerated implementation of Traveling Salesman Problem using Genetic Algorithms (TSP-GA) </vt:lpstr>
      <vt:lpstr>ABSTRACT</vt:lpstr>
      <vt:lpstr>Background – Traveling salesman</vt:lpstr>
      <vt:lpstr>Background-genetic algorithms</vt:lpstr>
      <vt:lpstr>Background-genetic algorithms</vt:lpstr>
      <vt:lpstr>Design challenge – cuda specific</vt:lpstr>
      <vt:lpstr>Basic tsp solver for cuda</vt:lpstr>
      <vt:lpstr>Basic ga for cuda</vt:lpstr>
      <vt:lpstr>Optimization idea 1 - coalesing</vt:lpstr>
      <vt:lpstr>PowerPoint Presentation</vt:lpstr>
      <vt:lpstr>PowerPoint Presentation</vt:lpstr>
      <vt:lpstr>Optimization idea 2 – opt 2</vt:lpstr>
      <vt:lpstr>Optimization idea 3 –  Memory Bank ConflicT</vt:lpstr>
      <vt:lpstr>PowerPoint Presentation</vt:lpstr>
      <vt:lpstr>Conclusion and overall results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Rumsey, Christopher Stephen - (rumsey)</dc:creator>
  <cp:lastModifiedBy>Maldonado, Joel - (joelmaldonado)</cp:lastModifiedBy>
  <cp:revision>16</cp:revision>
  <dcterms:created xsi:type="dcterms:W3CDTF">2026-04-23T17:21:28Z</dcterms:created>
  <dcterms:modified xsi:type="dcterms:W3CDTF">2026-04-28T04:13:38Z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